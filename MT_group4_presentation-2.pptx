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5143500" cy="9144000"/>
  <p:embeddedFontLs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53279C-7645-44CB-8ED3-BF2F02502B3F}">
  <a:tblStyle styleId="{EA53279C-7645-44CB-8ED3-BF2F02502B3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6.xml"/><Relationship Id="rId22" Type="http://schemas.openxmlformats.org/officeDocument/2006/relationships/font" Target="fonts/RobotoMono-italic.fntdata"/><Relationship Id="rId10" Type="http://schemas.openxmlformats.org/officeDocument/2006/relationships/slide" Target="slides/slide5.xml"/><Relationship Id="rId21" Type="http://schemas.openxmlformats.org/officeDocument/2006/relationships/font" Target="fonts/RobotoMon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t>Our experiment is built around a single question: how much can we reduce trainable parameters without sacrificing translation quality?</a:t>
            </a:r>
            <a:endParaRPr/>
          </a:p>
          <a:p>
            <a:pPr indent="0" lvl="0" marL="0" rtl="0" algn="l">
              <a:lnSpc>
                <a:spcPct val="115000"/>
              </a:lnSpc>
              <a:spcBef>
                <a:spcPts val="0"/>
              </a:spcBef>
              <a:spcAft>
                <a:spcPts val="0"/>
              </a:spcAft>
              <a:buClr>
                <a:schemeClr val="dk1"/>
              </a:buClr>
              <a:buSzPts val="1100"/>
              <a:buFont typeface="Arial"/>
              <a:buNone/>
            </a:pPr>
            <a:r>
              <a:rPr lang="en-US"/>
              <a:t>We start from the same pre-trained model — NLLB-200-distilled-600M. For the four fine-tuned systems, we use the same 48,000 Czech-English training pairs from WMT18. Zero-shot bypasses training entirely, going directly from the model to evaluation. All five systems are then evaluated on the same 1,000-sentence test set with the same script, giving us a fair comparison.</a:t>
            </a:r>
            <a:endParaRPr/>
          </a:p>
          <a:p>
            <a:pPr indent="0" lvl="0" marL="0" rtl="0" algn="l">
              <a:lnSpc>
                <a:spcPct val="115000"/>
              </a:lnSpc>
              <a:spcBef>
                <a:spcPts val="0"/>
              </a:spcBef>
              <a:spcAft>
                <a:spcPts val="0"/>
              </a:spcAft>
              <a:buSzPts val="1100"/>
              <a:buNone/>
            </a:pPr>
            <a:r>
              <a:rPr lang="en-US"/>
              <a:t>Full fine-tuning sets the upper bound — the best quality we can expect. Zero-shot sets the lower bound. The three PEFT methods sit in between, and that gap is what we're trying to close.</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a:t>We report three metrics: BLEU for lexical overlap, chrF for character-level accuracy, and COMET for semantic quality. chrF is particularly informative for morphologically rich languages like Czech, but we use BLEU and COMET as the primary comparison metrics to align with standard MT evaluation practice.</a:t>
            </a:r>
            <a:endParaRPr/>
          </a:p>
          <a:p>
            <a:pPr indent="0" lvl="0" marL="0" rtl="0" algn="l">
              <a:lnSpc>
                <a:spcPct val="115000"/>
              </a:lnSpc>
              <a:spcBef>
                <a:spcPts val="0"/>
              </a:spcBef>
              <a:spcAft>
                <a:spcPts val="0"/>
              </a:spcAft>
              <a:buClr>
                <a:schemeClr val="dk1"/>
              </a:buClr>
              <a:buSzPts val="1100"/>
              <a:buFont typeface="Arial"/>
              <a:buNone/>
            </a:pPr>
            <a:r>
              <a:rPr lang="en-US"/>
              <a:t>Looking at the results, the zero-shot baseline scores BLEU 23.04, and full fine-tuning reaches 31.15 — an 8-point gap. That's the space the PEFT methods are operating in.</a:t>
            </a:r>
            <a:endParaRPr/>
          </a:p>
          <a:p>
            <a:pPr indent="0" lvl="0" marL="0" rtl="0" algn="l">
              <a:lnSpc>
                <a:spcPct val="115000"/>
              </a:lnSpc>
              <a:spcBef>
                <a:spcPts val="0"/>
              </a:spcBef>
              <a:spcAft>
                <a:spcPts val="0"/>
              </a:spcAft>
              <a:buSzPts val="1100"/>
              <a:buNone/>
            </a:pPr>
            <a:r>
              <a:rPr lang="en-US"/>
              <a:t>All three PEFT methods land between BLEU 30.5 and 31.7 — essentially matching full fine-tuning while training less than 0.2% of parameters.</a:t>
            </a:r>
            <a:endParaRPr/>
          </a:p>
        </p:txBody>
      </p:sp>
      <p:sp>
        <p:nvSpPr>
          <p:cNvPr id="60" name="Google Shape;6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4e889ba21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g3e4e889ba21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50">
                <a:solidFill>
                  <a:srgbClr val="1A1C1F"/>
                </a:solidFill>
                <a:highlight>
                  <a:srgbClr val="FFFFFF"/>
                </a:highlight>
                <a:latin typeface="Arial"/>
                <a:ea typeface="Arial"/>
                <a:cs typeface="Arial"/>
                <a:sym typeface="Arial"/>
              </a:rPr>
              <a:t>r - LoRA r did not impact results meaningfully when all projection layers were used.</a:t>
            </a:r>
            <a:endParaRPr sz="1050">
              <a:solidFill>
                <a:srgbClr val="1A1C1F"/>
              </a:solidFill>
              <a:highlight>
                <a:srgbClr val="FFFFFF"/>
              </a:highlight>
              <a:latin typeface="Arial"/>
              <a:ea typeface="Arial"/>
              <a:cs typeface="Arial"/>
              <a:sym typeface="Arial"/>
            </a:endParaRPr>
          </a:p>
        </p:txBody>
      </p:sp>
      <p:sp>
        <p:nvSpPr>
          <p:cNvPr id="83" name="Google Shape;83;g3e4e889ba21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main idea is that instead of updating all model parameters, IA³ only learns three scaling vectors: lkl_klk​, lvl_vlv​, and lffl_{ff}lff​.</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vectors are applied to the</a:t>
            </a:r>
            <a:r>
              <a:rPr b="1" lang="en-US" sz="1100">
                <a:latin typeface="Arial"/>
                <a:ea typeface="Arial"/>
                <a:cs typeface="Arial"/>
                <a:sym typeface="Arial"/>
              </a:rPr>
              <a:t> Key, Value, and Feed-Forward </a:t>
            </a:r>
            <a:r>
              <a:rPr lang="en-US" sz="1100">
                <a:latin typeface="Arial"/>
                <a:ea typeface="Arial"/>
                <a:cs typeface="Arial"/>
                <a:sym typeface="Arial"/>
              </a:rPr>
              <a:t>activations through element-wise multiplication. By doing this, the model can emphasize task-relevant information and reduce the influence of less useful information.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Since only a very small number of parameters need to be trained, IA³ is much more efficient than full fine-tuning in terms of memory and computation, while still maintaining strong performance.</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16" name="Google Shape;11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d31bde184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ed31bde184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slide presents the experimental results for IA³ under three different learning rates.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left, we compare BLEU and chrF scores. We can see that performance improves as the learning rate increases. The model trained with a learning rate of </a:t>
            </a:r>
            <a:r>
              <a:rPr b="1" lang="en-US" sz="1100">
                <a:latin typeface="Arial"/>
                <a:ea typeface="Arial"/>
                <a:cs typeface="Arial"/>
                <a:sym typeface="Arial"/>
              </a:rPr>
              <a:t>1e-2</a:t>
            </a:r>
            <a:r>
              <a:rPr lang="en-US" sz="1100">
                <a:latin typeface="Arial"/>
                <a:ea typeface="Arial"/>
                <a:cs typeface="Arial"/>
                <a:sym typeface="Arial"/>
              </a:rPr>
              <a:t>, shown as V3, achieved the highest BLEU score of 30 and the highest chrF score of 57.</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the middle, we compare COMET scores. Again, V3 achieved the best result, with a COMET score of 0.828, outperforming the other two settings.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There are three key takeaways from these results.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First, </a:t>
            </a:r>
            <a:r>
              <a:rPr b="1" lang="en-US" sz="1100">
                <a:latin typeface="Arial"/>
                <a:ea typeface="Arial"/>
                <a:cs typeface="Arial"/>
                <a:sym typeface="Arial"/>
              </a:rPr>
              <a:t>IA³ benefits from a higher learning rate</a:t>
            </a:r>
            <a:r>
              <a:rPr lang="en-US" sz="1100">
                <a:latin typeface="Arial"/>
                <a:ea typeface="Arial"/>
                <a:cs typeface="Arial"/>
                <a:sym typeface="Arial"/>
              </a:rPr>
              <a:t>. While many fine-tuning methods become unstable at large learning rates, IA³ can effectively utilize learning rates as high as 1e-2.</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Second, </a:t>
            </a:r>
            <a:r>
              <a:rPr b="1" lang="en-US" sz="1100">
                <a:latin typeface="Arial"/>
                <a:ea typeface="Arial"/>
                <a:cs typeface="Arial"/>
                <a:sym typeface="Arial"/>
              </a:rPr>
              <a:t>the relationship between learning rate and performance is not always monotonic</a:t>
            </a:r>
            <a:r>
              <a:rPr lang="en-US" sz="1100">
                <a:latin typeface="Arial"/>
                <a:ea typeface="Arial"/>
                <a:cs typeface="Arial"/>
                <a:sym typeface="Arial"/>
              </a:rPr>
              <a:t>. Small changes in hyperparameters can lead to noticeable differences in evaluation scores, highlighting the importance of hyperparameter tuning.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Third, </a:t>
            </a:r>
            <a:r>
              <a:rPr b="1" lang="en-US" sz="1100">
                <a:latin typeface="Arial"/>
                <a:ea typeface="Arial"/>
                <a:cs typeface="Arial"/>
                <a:sym typeface="Arial"/>
              </a:rPr>
              <a:t>higher training loss does not necessarily mean worse evaluation performance</a:t>
            </a:r>
            <a:r>
              <a:rPr lang="en-US" sz="1100">
                <a:latin typeface="Arial"/>
                <a:ea typeface="Arial"/>
                <a:cs typeface="Arial"/>
                <a:sym typeface="Arial"/>
              </a:rPr>
              <a:t>. Interestingly, V3 achieved the highest training loss among the three configurations, but still obtained the best BLEU and COMET scores on the test set.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Overall, these results suggest that IA³ is sensitive to learning rate selection, and a relatively high learning rate can lead to the strongest translation performance.</a:t>
            </a:r>
            <a:endParaRPr sz="1000">
              <a:solidFill>
                <a:srgbClr val="64748B"/>
              </a:solidFill>
            </a:endParaRPr>
          </a:p>
          <a:p>
            <a:pPr indent="0" lvl="0" marL="0" rtl="0" algn="l">
              <a:spcBef>
                <a:spcPts val="1200"/>
              </a:spcBef>
              <a:spcAft>
                <a:spcPts val="0"/>
              </a:spcAft>
              <a:buNone/>
            </a:pPr>
            <a:r>
              <a:t/>
            </a:r>
            <a:endParaRPr/>
          </a:p>
        </p:txBody>
      </p:sp>
      <p:sp>
        <p:nvSpPr>
          <p:cNvPr id="132" name="Google Shape;132;g3ed31bde184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Prefix tuning adds a small set of learnable tokens at the beginning of each input, training only these tokens while keeping the rest of the model completely frozen.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 ran three experiments varying prefix size, learning rate, and scheduler type.</a:t>
            </a:r>
            <a:endParaRPr sz="1100">
              <a:latin typeface="Arial"/>
              <a:ea typeface="Arial"/>
              <a:cs typeface="Arial"/>
              <a:sym typeface="Arial"/>
            </a:endParaRPr>
          </a:p>
          <a:p>
            <a:pPr indent="0" lvl="0" marL="0" rtl="0" algn="l">
              <a:spcBef>
                <a:spcPts val="1200"/>
              </a:spcBef>
              <a:spcAft>
                <a:spcPts val="0"/>
              </a:spcAft>
              <a:buNone/>
            </a:pPr>
            <a:r>
              <a:rPr lang="en-US" sz="1100">
                <a:latin typeface="Arial"/>
                <a:ea typeface="Arial"/>
                <a:cs typeface="Arial"/>
                <a:sym typeface="Arial"/>
              </a:rPr>
              <a:t>The best experiment achieves near full fine-tuning performance while training only 0.08 % of model parameters.</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It was configured in the simplest and fastest way and achieved nearly the same results as the more complex and expensive experiments.</a:t>
            </a:r>
            <a:endParaRPr>
              <a:latin typeface="Arial"/>
              <a:ea typeface="Arial"/>
              <a:cs typeface="Arial"/>
              <a:sym typeface="Arial"/>
            </a:endParaRPr>
          </a:p>
        </p:txBody>
      </p:sp>
      <p:sp>
        <p:nvSpPr>
          <p:cNvPr id="145" name="Google Shape;14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4e889ba21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g3e4e889ba21_1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I also did the error analysis for the whole group, looking at the worst-scoring translations from all four systems.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I found </a:t>
            </a:r>
            <a:r>
              <a:rPr b="1" lang="en-US" sz="1100">
                <a:latin typeface="Arial"/>
                <a:ea typeface="Arial"/>
                <a:cs typeface="Arial"/>
                <a:sym typeface="Arial"/>
              </a:rPr>
              <a:t>five recurring error types</a:t>
            </a:r>
            <a:r>
              <a:rPr lang="en-US" sz="1100">
                <a:latin typeface="Arial"/>
                <a:ea typeface="Arial"/>
                <a:cs typeface="Arial"/>
                <a:sym typeface="Arial"/>
              </a:rPr>
              <a:t>: </a:t>
            </a:r>
            <a:r>
              <a:rPr b="1" lang="en-US" sz="1100">
                <a:latin typeface="Arial"/>
                <a:ea typeface="Arial"/>
                <a:cs typeface="Arial"/>
                <a:sym typeface="Arial"/>
              </a:rPr>
              <a:t>proper nouns</a:t>
            </a:r>
            <a:r>
              <a:rPr lang="en-US" sz="1100">
                <a:latin typeface="Arial"/>
                <a:ea typeface="Arial"/>
                <a:cs typeface="Arial"/>
                <a:sym typeface="Arial"/>
              </a:rPr>
              <a:t>, </a:t>
            </a:r>
            <a:r>
              <a:rPr b="1" lang="en-US" sz="1100">
                <a:latin typeface="Arial"/>
                <a:ea typeface="Arial"/>
                <a:cs typeface="Arial"/>
                <a:sym typeface="Arial"/>
              </a:rPr>
              <a:t>ellipsis,</a:t>
            </a:r>
            <a:r>
              <a:rPr lang="en-US" sz="1100">
                <a:latin typeface="Arial"/>
                <a:ea typeface="Arial"/>
                <a:cs typeface="Arial"/>
                <a:sym typeface="Arial"/>
              </a:rPr>
              <a:t> </a:t>
            </a:r>
            <a:r>
              <a:rPr b="1" lang="en-US" sz="1100">
                <a:latin typeface="Arial"/>
                <a:ea typeface="Arial"/>
                <a:cs typeface="Arial"/>
                <a:sym typeface="Arial"/>
              </a:rPr>
              <a:t>idioms </a:t>
            </a:r>
            <a:r>
              <a:rPr lang="en-US" sz="1100">
                <a:latin typeface="Arial"/>
                <a:ea typeface="Arial"/>
                <a:cs typeface="Arial"/>
                <a:sym typeface="Arial"/>
              </a:rPr>
              <a:t>,</a:t>
            </a:r>
            <a:r>
              <a:rPr b="1" lang="en-US" sz="1100">
                <a:latin typeface="Arial"/>
                <a:ea typeface="Arial"/>
                <a:cs typeface="Arial"/>
                <a:sym typeface="Arial"/>
              </a:rPr>
              <a:t>false friends</a:t>
            </a:r>
            <a:r>
              <a:rPr lang="en-US" sz="1100">
                <a:latin typeface="Arial"/>
                <a:ea typeface="Arial"/>
                <a:cs typeface="Arial"/>
                <a:sym typeface="Arial"/>
              </a:rPr>
              <a:t> and </a:t>
            </a:r>
            <a:r>
              <a:rPr b="1" lang="en-US" sz="1100">
                <a:latin typeface="Arial"/>
                <a:ea typeface="Arial"/>
                <a:cs typeface="Arial"/>
                <a:sym typeface="Arial"/>
              </a:rPr>
              <a:t>missing discourse context </a:t>
            </a:r>
            <a:endParaRPr b="1"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For the </a:t>
            </a:r>
            <a:r>
              <a:rPr b="1" lang="en-US" sz="1100">
                <a:latin typeface="Arial"/>
                <a:ea typeface="Arial"/>
                <a:cs typeface="Arial"/>
                <a:sym typeface="Arial"/>
              </a:rPr>
              <a:t>proper nouns</a:t>
            </a:r>
            <a:r>
              <a:rPr lang="en-US" sz="1100">
                <a:latin typeface="Arial"/>
                <a:ea typeface="Arial"/>
                <a:cs typeface="Arial"/>
                <a:sym typeface="Arial"/>
              </a:rPr>
              <a:t>, a czech town was translated as a german one. </a:t>
            </a:r>
            <a:br>
              <a:rPr lang="en-US" sz="1100">
                <a:latin typeface="Arial"/>
                <a:ea typeface="Arial"/>
                <a:cs typeface="Arial"/>
                <a:sym typeface="Arial"/>
              </a:rPr>
            </a:br>
            <a:r>
              <a:rPr lang="en-US" sz="1100">
                <a:latin typeface="Arial"/>
                <a:ea typeface="Arial"/>
                <a:cs typeface="Arial"/>
                <a:sym typeface="Arial"/>
              </a:rPr>
              <a:t>for </a:t>
            </a:r>
            <a:r>
              <a:rPr b="1" lang="en-US" sz="1100">
                <a:latin typeface="Arial"/>
                <a:ea typeface="Arial"/>
                <a:cs typeface="Arial"/>
                <a:sym typeface="Arial"/>
              </a:rPr>
              <a:t>Ellipsis</a:t>
            </a:r>
            <a:r>
              <a:rPr lang="en-US" sz="1100">
                <a:latin typeface="Arial"/>
                <a:ea typeface="Arial"/>
                <a:cs typeface="Arial"/>
                <a:sym typeface="Arial"/>
              </a:rPr>
              <a:t>, the Czech original used very little words, so the model was not able to form the right meaning</a:t>
            </a:r>
            <a:br>
              <a:rPr lang="en-US" sz="1100">
                <a:latin typeface="Arial"/>
                <a:ea typeface="Arial"/>
                <a:cs typeface="Arial"/>
                <a:sym typeface="Arial"/>
              </a:rPr>
            </a:br>
            <a:r>
              <a:rPr lang="en-US" sz="1100">
                <a:latin typeface="Arial"/>
                <a:ea typeface="Arial"/>
                <a:cs typeface="Arial"/>
                <a:sym typeface="Arial"/>
              </a:rPr>
              <a:t>for </a:t>
            </a:r>
            <a:r>
              <a:rPr b="1" lang="en-US" sz="1100">
                <a:latin typeface="Arial"/>
                <a:ea typeface="Arial"/>
                <a:cs typeface="Arial"/>
                <a:sym typeface="Arial"/>
              </a:rPr>
              <a:t>idioms</a:t>
            </a:r>
            <a:r>
              <a:rPr lang="en-US" sz="1100">
                <a:latin typeface="Arial"/>
                <a:ea typeface="Arial"/>
                <a:cs typeface="Arial"/>
                <a:sym typeface="Arial"/>
              </a:rPr>
              <a:t>, in this particular Full fine-tuning case, the idiom was not even translated at all</a:t>
            </a:r>
            <a:br>
              <a:rPr lang="en-US" sz="1100">
                <a:latin typeface="Arial"/>
                <a:ea typeface="Arial"/>
                <a:cs typeface="Arial"/>
                <a:sym typeface="Arial"/>
              </a:rPr>
            </a:br>
            <a:r>
              <a:rPr lang="en-US" sz="1100">
                <a:latin typeface="Arial"/>
                <a:ea typeface="Arial"/>
                <a:cs typeface="Arial"/>
                <a:sym typeface="Arial"/>
              </a:rPr>
              <a:t>for </a:t>
            </a:r>
            <a:r>
              <a:rPr b="1" lang="en-US" sz="1100">
                <a:latin typeface="Arial"/>
                <a:ea typeface="Arial"/>
                <a:cs typeface="Arial"/>
                <a:sym typeface="Arial"/>
              </a:rPr>
              <a:t>false friends</a:t>
            </a:r>
            <a:r>
              <a:rPr lang="en-US" sz="1100">
                <a:latin typeface="Arial"/>
                <a:ea typeface="Arial"/>
                <a:cs typeface="Arial"/>
                <a:sym typeface="Arial"/>
              </a:rPr>
              <a:t>, the people cheering/supporting became fanatics.</a:t>
            </a:r>
            <a:br>
              <a:rPr lang="en-US" sz="1100">
                <a:latin typeface="Arial"/>
                <a:ea typeface="Arial"/>
                <a:cs typeface="Arial"/>
                <a:sym typeface="Arial"/>
              </a:rPr>
            </a:br>
            <a:r>
              <a:rPr lang="en-US" sz="1100">
                <a:latin typeface="Arial"/>
                <a:ea typeface="Arial"/>
                <a:cs typeface="Arial"/>
                <a:sym typeface="Arial"/>
              </a:rPr>
              <a:t>and for </a:t>
            </a:r>
            <a:r>
              <a:rPr b="1" lang="en-US" sz="1100">
                <a:latin typeface="Arial"/>
                <a:ea typeface="Arial"/>
                <a:cs typeface="Arial"/>
                <a:sym typeface="Arial"/>
              </a:rPr>
              <a:t>missing discourse context,</a:t>
            </a:r>
            <a:r>
              <a:rPr lang="en-US" sz="1100">
                <a:latin typeface="Arial"/>
                <a:ea typeface="Arial"/>
                <a:cs typeface="Arial"/>
                <a:sym typeface="Arial"/>
              </a:rPr>
              <a:t> the dinosaur's burial spot became a person's tomb.</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lang="en-US" sz="1100">
                <a:latin typeface="Arial"/>
                <a:ea typeface="Arial"/>
                <a:cs typeface="Arial"/>
                <a:sym typeface="Arial"/>
              </a:rPr>
              <a:t>For method-specific errors, full fine-tuning was the worst — it sometimes copied Czech verbatim or produced fluent English saying the exact opposite of the source. PEFT methods never did this. The key finding: high-confidence wrong translations are the most dangerous, because they look correct and you'd never know without knowing Czech.</a:t>
            </a:r>
            <a:endParaRPr/>
          </a:p>
        </p:txBody>
      </p:sp>
      <p:sp>
        <p:nvSpPr>
          <p:cNvPr id="154" name="Google Shape;154;g3e4e889ba21_1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e4624f8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g3e5e4624f8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for other examples, I chose this Lost in translation example, where the FULL FT produces literal nonsense - something about tapestry, volley and spread.</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FULL-FT was also very confident in the next example, where it translated riggle as a someone's back I guess?</a:t>
            </a:r>
            <a:endParaRPr>
              <a:latin typeface="Arial"/>
              <a:ea typeface="Arial"/>
              <a:cs typeface="Arial"/>
              <a:sym typeface="Arial"/>
            </a:endParaRPr>
          </a:p>
        </p:txBody>
      </p:sp>
      <p:sp>
        <p:nvSpPr>
          <p:cNvPr id="162" name="Google Shape;162;g3e5e4624f8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5e4624f8e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e5e4624f8e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For FT FULL, a question about an opening speech turner into an identity crisis - when the person is not sure about his/hers first language.</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and for IA3, as mentioned before, the supporters became fanatics.</a:t>
            </a:r>
            <a:endParaRPr>
              <a:latin typeface="Arial"/>
              <a:ea typeface="Arial"/>
              <a:cs typeface="Arial"/>
              <a:sym typeface="Arial"/>
            </a:endParaRPr>
          </a:p>
        </p:txBody>
      </p:sp>
      <p:sp>
        <p:nvSpPr>
          <p:cNvPr id="174" name="Google Shape;174;g3e5e4624f8e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4e889ba21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e4e889ba21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In conclusion, our results show that PEFT methods can achieve translation quality close to full fine-tuning while updating only a very small fraction of the model parameters. This makes them a cost-effective solution for low-resource settings. Among the methods we evaluated, LoRA achieved the strongest overall performance, while Prefix Tuning provided a good balance between efficiency and translation quality. </a:t>
            </a:r>
            <a:endParaRPr/>
          </a:p>
        </p:txBody>
      </p:sp>
      <p:sp>
        <p:nvSpPr>
          <p:cNvPr id="186" name="Google Shape;186;g3e4e889ba21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gif"/><Relationship Id="rId4" Type="http://schemas.openxmlformats.org/officeDocument/2006/relationships/hyperlink" Target="https://ai.plainenglish.io/understanding-low-rank-adaptation-lora-for-efficient-fine-tuning-of-large-language-models-082d223bb6db"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3"/>
          <p:cNvSpPr/>
          <p:nvPr/>
        </p:nvSpPr>
        <p:spPr>
          <a:xfrm>
            <a:off x="548640" y="1280160"/>
            <a:ext cx="80467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Parameter-Efficient Fine-Tuning</a:t>
            </a:r>
            <a:endParaRPr b="0" i="0" sz="3800" u="none" cap="none" strike="noStrike">
              <a:solidFill>
                <a:schemeClr val="dk1"/>
              </a:solidFill>
              <a:latin typeface="Calibri"/>
              <a:ea typeface="Calibri"/>
              <a:cs typeface="Calibri"/>
              <a:sym typeface="Calibri"/>
            </a:endParaRPr>
          </a:p>
        </p:txBody>
      </p:sp>
      <p:sp>
        <p:nvSpPr>
          <p:cNvPr id="17" name="Google Shape;17;p3"/>
          <p:cNvSpPr/>
          <p:nvPr/>
        </p:nvSpPr>
        <p:spPr>
          <a:xfrm>
            <a:off x="548640" y="201168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2800"/>
              <a:buFont typeface="Calibri"/>
              <a:buNone/>
            </a:pPr>
            <a:r>
              <a:rPr b="0" i="0" lang="en-US" sz="2800" u="none" cap="none" strike="noStrike">
                <a:solidFill>
                  <a:srgbClr val="CADCFC"/>
                </a:solidFill>
                <a:latin typeface="Calibri"/>
                <a:ea typeface="Calibri"/>
                <a:cs typeface="Calibri"/>
                <a:sym typeface="Calibri"/>
              </a:rPr>
              <a:t>for Czech-to-English Machine Translation</a:t>
            </a:r>
            <a:endParaRPr b="0" i="0" sz="2800" u="none" cap="none" strike="noStrike">
              <a:solidFill>
                <a:schemeClr val="dk1"/>
              </a:solidFill>
              <a:latin typeface="Calibri"/>
              <a:ea typeface="Calibri"/>
              <a:cs typeface="Calibri"/>
              <a:sym typeface="Calibri"/>
            </a:endParaRPr>
          </a:p>
        </p:txBody>
      </p:sp>
      <p:sp>
        <p:nvSpPr>
          <p:cNvPr id="18" name="Google Shape;18;p3"/>
          <p:cNvSpPr/>
          <p:nvPr/>
        </p:nvSpPr>
        <p:spPr>
          <a:xfrm>
            <a:off x="548640" y="2834640"/>
            <a:ext cx="8046720" cy="18288"/>
          </a:xfrm>
          <a:prstGeom prst="rect">
            <a:avLst/>
          </a:prstGeom>
          <a:solidFill>
            <a:srgbClr val="CADC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48640" y="3017520"/>
            <a:ext cx="8046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Group 4</a:t>
            </a:r>
            <a:r>
              <a:rPr lang="en-US">
                <a:solidFill>
                  <a:srgbClr val="CADCFC"/>
                </a:solidFill>
                <a:latin typeface="Calibri"/>
                <a:ea typeface="Calibri"/>
                <a:cs typeface="Calibri"/>
                <a:sym typeface="Calibri"/>
              </a:rPr>
              <a:t>:</a:t>
            </a:r>
            <a:r>
              <a:rPr b="0" i="0" lang="en-US" sz="1400" u="none" cap="none" strike="noStrike">
                <a:solidFill>
                  <a:srgbClr val="CADCFC"/>
                </a:solidFill>
                <a:latin typeface="Calibri"/>
                <a:ea typeface="Calibri"/>
                <a:cs typeface="Calibri"/>
                <a:sym typeface="Calibri"/>
              </a:rPr>
              <a:t>  Andreia Alexa  ·  </a:t>
            </a:r>
            <a:r>
              <a:rPr lang="en-US">
                <a:solidFill>
                  <a:srgbClr val="CADCFC"/>
                </a:solidFill>
                <a:latin typeface="Calibri"/>
                <a:ea typeface="Calibri"/>
                <a:cs typeface="Calibri"/>
                <a:sym typeface="Calibri"/>
              </a:rPr>
              <a:t>Jie Huang</a:t>
            </a:r>
            <a:r>
              <a:rPr lang="en-US">
                <a:solidFill>
                  <a:schemeClr val="dk1"/>
                </a:solidFill>
                <a:latin typeface="Calibri"/>
                <a:ea typeface="Calibri"/>
                <a:cs typeface="Calibri"/>
                <a:sym typeface="Calibri"/>
              </a:rPr>
              <a:t> </a:t>
            </a:r>
            <a:r>
              <a:rPr lang="en-US">
                <a:solidFill>
                  <a:srgbClr val="CADCFC"/>
                </a:solidFill>
                <a:latin typeface="Calibri"/>
                <a:ea typeface="Calibri"/>
                <a:cs typeface="Calibri"/>
                <a:sym typeface="Calibri"/>
              </a:rPr>
              <a:t>·  </a:t>
            </a:r>
            <a:r>
              <a:rPr b="0" i="0" lang="en-US" sz="1400" u="none" cap="none" strike="noStrike">
                <a:solidFill>
                  <a:srgbClr val="CADCFC"/>
                </a:solidFill>
                <a:latin typeface="Calibri"/>
                <a:ea typeface="Calibri"/>
                <a:cs typeface="Calibri"/>
                <a:sym typeface="Calibri"/>
              </a:rPr>
              <a:t>Yu Chien Lin  ·  Diana Mikova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4"/>
          <p:cNvSpPr/>
          <p:nvPr/>
        </p:nvSpPr>
        <p:spPr>
          <a:xfrm>
            <a:off x="361477" y="228600"/>
            <a:ext cx="8229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Motivation &amp; Research Question</a:t>
            </a:r>
            <a:endParaRPr b="0" i="0" sz="2800" u="none" cap="none" strike="noStrike">
              <a:solidFill>
                <a:schemeClr val="dk1"/>
              </a:solidFill>
              <a:latin typeface="Calibri"/>
              <a:ea typeface="Calibri"/>
              <a:cs typeface="Calibri"/>
              <a:sym typeface="Calibri"/>
            </a:endParaRPr>
          </a:p>
        </p:txBody>
      </p:sp>
      <p:sp>
        <p:nvSpPr>
          <p:cNvPr id="26" name="Google Shape;26;p4"/>
          <p:cNvSpPr/>
          <p:nvPr/>
        </p:nvSpPr>
        <p:spPr>
          <a:xfrm>
            <a:off x="457200" y="914400"/>
            <a:ext cx="8229600" cy="1828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425295" y="1027975"/>
            <a:ext cx="5349300" cy="896100"/>
          </a:xfrm>
          <a:prstGeom prst="rect">
            <a:avLst/>
          </a:prstGeom>
          <a:solidFill>
            <a:srgbClr val="FAFAFA"/>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425295" y="1027975"/>
            <a:ext cx="63900" cy="89610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589887" y="1101127"/>
            <a:ext cx="384000" cy="74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ECBF6"/>
              </a:buClr>
              <a:buSzPts val="1800"/>
              <a:buFont typeface="Calibri"/>
              <a:buNone/>
            </a:pPr>
            <a:r>
              <a:rPr b="1" i="0" lang="en-US" sz="1800" u="none" cap="none" strike="noStrike">
                <a:solidFill>
                  <a:srgbClr val="CECBF6"/>
                </a:solidFill>
                <a:latin typeface="Calibri"/>
                <a:ea typeface="Calibri"/>
                <a:cs typeface="Calibri"/>
                <a:sym typeface="Calibri"/>
              </a:rPr>
              <a:t>01</a:t>
            </a:r>
            <a:endParaRPr b="0" i="0" sz="1800" u="none" cap="none" strike="noStrike">
              <a:solidFill>
                <a:srgbClr val="000000"/>
              </a:solidFill>
              <a:latin typeface="Calibri"/>
              <a:ea typeface="Calibri"/>
              <a:cs typeface="Calibri"/>
              <a:sym typeface="Calibri"/>
            </a:endParaRPr>
          </a:p>
        </p:txBody>
      </p:sp>
      <p:sp>
        <p:nvSpPr>
          <p:cNvPr id="30" name="Google Shape;30;p4"/>
          <p:cNvSpPr/>
          <p:nvPr/>
        </p:nvSpPr>
        <p:spPr>
          <a:xfrm>
            <a:off x="425295" y="2033815"/>
            <a:ext cx="5349300" cy="896100"/>
          </a:xfrm>
          <a:prstGeom prst="rect">
            <a:avLst/>
          </a:prstGeom>
          <a:solidFill>
            <a:srgbClr val="FAFAFA"/>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425295" y="2033815"/>
            <a:ext cx="63900" cy="89610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589887" y="2106967"/>
            <a:ext cx="384000" cy="74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ECBF6"/>
              </a:buClr>
              <a:buSzPts val="1800"/>
              <a:buFont typeface="Calibri"/>
              <a:buNone/>
            </a:pPr>
            <a:r>
              <a:rPr b="1" i="0" lang="en-US" sz="1800" u="none" cap="none" strike="noStrike">
                <a:solidFill>
                  <a:srgbClr val="CECBF6"/>
                </a:solidFill>
                <a:latin typeface="Calibri"/>
                <a:ea typeface="Calibri"/>
                <a:cs typeface="Calibri"/>
                <a:sym typeface="Calibri"/>
              </a:rPr>
              <a:t>02</a:t>
            </a:r>
            <a:endParaRPr b="0" i="0" sz="1800" u="none" cap="none" strike="noStrike">
              <a:solidFill>
                <a:srgbClr val="000000"/>
              </a:solidFill>
              <a:latin typeface="Calibri"/>
              <a:ea typeface="Calibri"/>
              <a:cs typeface="Calibri"/>
              <a:sym typeface="Calibri"/>
            </a:endParaRPr>
          </a:p>
        </p:txBody>
      </p:sp>
      <p:sp>
        <p:nvSpPr>
          <p:cNvPr id="33" name="Google Shape;33;p4"/>
          <p:cNvSpPr/>
          <p:nvPr/>
        </p:nvSpPr>
        <p:spPr>
          <a:xfrm>
            <a:off x="425295" y="3039655"/>
            <a:ext cx="5349300" cy="896100"/>
          </a:xfrm>
          <a:prstGeom prst="rect">
            <a:avLst/>
          </a:prstGeom>
          <a:solidFill>
            <a:srgbClr val="FAFAFA"/>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425295" y="3039655"/>
            <a:ext cx="63900" cy="89610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589887" y="3112807"/>
            <a:ext cx="384000" cy="74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ECBF6"/>
              </a:buClr>
              <a:buSzPts val="1800"/>
              <a:buFont typeface="Calibri"/>
              <a:buNone/>
            </a:pPr>
            <a:r>
              <a:rPr b="1" i="0" lang="en-US" sz="1800" u="none" cap="none" strike="noStrike">
                <a:solidFill>
                  <a:srgbClr val="CECBF6"/>
                </a:solidFill>
                <a:latin typeface="Calibri"/>
                <a:ea typeface="Calibri"/>
                <a:cs typeface="Calibri"/>
                <a:sym typeface="Calibri"/>
              </a:rPr>
              <a:t>03</a:t>
            </a:r>
            <a:endParaRPr b="0" i="0" sz="1800" u="none" cap="none" strike="noStrike">
              <a:solidFill>
                <a:srgbClr val="000000"/>
              </a:solidFill>
              <a:latin typeface="Calibri"/>
              <a:ea typeface="Calibri"/>
              <a:cs typeface="Calibri"/>
              <a:sym typeface="Calibri"/>
            </a:endParaRPr>
          </a:p>
        </p:txBody>
      </p:sp>
      <p:sp>
        <p:nvSpPr>
          <p:cNvPr id="36" name="Google Shape;36;p4"/>
          <p:cNvSpPr/>
          <p:nvPr/>
        </p:nvSpPr>
        <p:spPr>
          <a:xfrm>
            <a:off x="425295" y="4045495"/>
            <a:ext cx="5349300" cy="896100"/>
          </a:xfrm>
          <a:prstGeom prst="rect">
            <a:avLst/>
          </a:prstGeom>
          <a:solidFill>
            <a:srgbClr val="FAFAFA"/>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25295" y="4045495"/>
            <a:ext cx="63900" cy="89610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589887" y="4118647"/>
            <a:ext cx="384000" cy="74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ECBF6"/>
              </a:buClr>
              <a:buSzPts val="1800"/>
              <a:buFont typeface="Calibri"/>
              <a:buNone/>
            </a:pPr>
            <a:r>
              <a:rPr b="1" i="0" lang="en-US" sz="1800" u="none" cap="none" strike="noStrike">
                <a:solidFill>
                  <a:srgbClr val="CECBF6"/>
                </a:solidFill>
                <a:latin typeface="Calibri"/>
                <a:ea typeface="Calibri"/>
                <a:cs typeface="Calibri"/>
                <a:sym typeface="Calibri"/>
              </a:rPr>
              <a:t>04</a:t>
            </a:r>
            <a:endParaRPr b="0" i="0" sz="1800" u="none" cap="none" strike="noStrike">
              <a:solidFill>
                <a:srgbClr val="000000"/>
              </a:solidFill>
              <a:latin typeface="Calibri"/>
              <a:ea typeface="Calibri"/>
              <a:cs typeface="Calibri"/>
              <a:sym typeface="Calibri"/>
            </a:endParaRPr>
          </a:p>
        </p:txBody>
      </p:sp>
      <p:sp>
        <p:nvSpPr>
          <p:cNvPr id="39" name="Google Shape;39;p4"/>
          <p:cNvSpPr/>
          <p:nvPr/>
        </p:nvSpPr>
        <p:spPr>
          <a:xfrm>
            <a:off x="5869925" y="1028025"/>
            <a:ext cx="2844300" cy="3913500"/>
          </a:xfrm>
          <a:prstGeom prst="rect">
            <a:avLst/>
          </a:prstGeom>
          <a:solidFill>
            <a:srgbClr val="F5F3FF"/>
          </a:solidFill>
          <a:ln cap="flat" cmpd="sng" w="9525">
            <a:solidFill>
              <a:srgbClr val="AFA9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5989320" y="1183473"/>
            <a:ext cx="2743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34AB7"/>
              </a:buClr>
              <a:buSzPts val="900"/>
              <a:buFont typeface="Calibri"/>
              <a:buNone/>
            </a:pPr>
            <a:r>
              <a:rPr b="1" i="0" lang="en-US" sz="900" u="none" cap="none" strike="noStrike">
                <a:solidFill>
                  <a:srgbClr val="534AB7"/>
                </a:solidFill>
                <a:latin typeface="Calibri"/>
                <a:ea typeface="Calibri"/>
                <a:cs typeface="Calibri"/>
                <a:sym typeface="Calibri"/>
              </a:rPr>
              <a:t>RESEARCH QUESTION</a:t>
            </a:r>
            <a:endParaRPr b="0" i="0" sz="900" u="none" cap="none" strike="noStrike">
              <a:solidFill>
                <a:srgbClr val="000000"/>
              </a:solidFill>
              <a:latin typeface="Calibri"/>
              <a:ea typeface="Calibri"/>
              <a:cs typeface="Calibri"/>
              <a:sym typeface="Calibri"/>
            </a:endParaRPr>
          </a:p>
        </p:txBody>
      </p:sp>
      <p:cxnSp>
        <p:nvCxnSpPr>
          <p:cNvPr id="41" name="Google Shape;41;p4"/>
          <p:cNvCxnSpPr/>
          <p:nvPr/>
        </p:nvCxnSpPr>
        <p:spPr>
          <a:xfrm>
            <a:off x="5989320" y="1576665"/>
            <a:ext cx="2724900" cy="0"/>
          </a:xfrm>
          <a:prstGeom prst="straightConnector1">
            <a:avLst/>
          </a:prstGeom>
          <a:noFill/>
          <a:ln cap="flat" cmpd="sng" w="9525">
            <a:solidFill>
              <a:srgbClr val="AFA9EC"/>
            </a:solidFill>
            <a:prstDash val="solid"/>
            <a:round/>
            <a:headEnd len="sm" w="sm" type="none"/>
            <a:tailEnd len="sm" w="sm" type="none"/>
          </a:ln>
        </p:spPr>
      </p:cxnSp>
      <p:sp>
        <p:nvSpPr>
          <p:cNvPr id="42" name="Google Shape;42;p4"/>
          <p:cNvSpPr/>
          <p:nvPr/>
        </p:nvSpPr>
        <p:spPr>
          <a:xfrm>
            <a:off x="5989320" y="1640673"/>
            <a:ext cx="5943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ECBF6"/>
              </a:buClr>
              <a:buSzPts val="4800"/>
              <a:buFont typeface="Calibri"/>
              <a:buNone/>
            </a:pPr>
            <a:r>
              <a:rPr b="1" i="0" lang="en-US" sz="4800" u="none" cap="none" strike="noStrike">
                <a:solidFill>
                  <a:srgbClr val="CECBF6"/>
                </a:solidFill>
                <a:latin typeface="Calibri"/>
                <a:ea typeface="Calibri"/>
                <a:cs typeface="Calibri"/>
                <a:sym typeface="Calibri"/>
              </a:rPr>
              <a:t>?</a:t>
            </a:r>
            <a:endParaRPr b="0" i="0" sz="4800" u="none" cap="none" strike="noStrike">
              <a:solidFill>
                <a:srgbClr val="000000"/>
              </a:solidFill>
              <a:latin typeface="Calibri"/>
              <a:ea typeface="Calibri"/>
              <a:cs typeface="Calibri"/>
              <a:sym typeface="Calibri"/>
            </a:endParaRPr>
          </a:p>
        </p:txBody>
      </p:sp>
      <p:sp>
        <p:nvSpPr>
          <p:cNvPr id="43" name="Google Shape;43;p4"/>
          <p:cNvSpPr/>
          <p:nvPr/>
        </p:nvSpPr>
        <p:spPr>
          <a:xfrm>
            <a:off x="5989320" y="2417913"/>
            <a:ext cx="2743200" cy="246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30A3"/>
              </a:buClr>
              <a:buSzPts val="1400"/>
              <a:buFont typeface="Calibri"/>
              <a:buNone/>
            </a:pPr>
            <a:r>
              <a:rPr b="0" i="0" lang="en-US" sz="1400" u="none" cap="none" strike="noStrike">
                <a:solidFill>
                  <a:srgbClr val="3730A3"/>
                </a:solidFill>
                <a:latin typeface="Calibri"/>
                <a:ea typeface="Calibri"/>
                <a:cs typeface="Calibri"/>
                <a:sym typeface="Calibri"/>
              </a:rPr>
              <a:t>How do LoRA, IA3, and prefix tuning compare to full fine-tuning and zero-shot for Czech→English MT in a low-resource setting?</a:t>
            </a:r>
            <a:endParaRPr b="0" i="0" sz="1400" u="none" cap="none" strike="noStrike">
              <a:solidFill>
                <a:srgbClr val="000000"/>
              </a:solidFill>
              <a:latin typeface="Calibri"/>
              <a:ea typeface="Calibri"/>
              <a:cs typeface="Calibri"/>
              <a:sym typeface="Calibri"/>
            </a:endParaRPr>
          </a:p>
        </p:txBody>
      </p:sp>
      <p:sp>
        <p:nvSpPr>
          <p:cNvPr id="44" name="Google Shape;44;p4"/>
          <p:cNvSpPr/>
          <p:nvPr/>
        </p:nvSpPr>
        <p:spPr>
          <a:xfrm>
            <a:off x="1047087" y="1130279"/>
            <a:ext cx="4590300" cy="749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2A3140"/>
                </a:solidFill>
                <a:latin typeface="Calibri"/>
                <a:ea typeface="Calibri"/>
                <a:cs typeface="Calibri"/>
                <a:sym typeface="Calibri"/>
              </a:rPr>
              <a:t>Problem: </a:t>
            </a:r>
            <a:r>
              <a:rPr lang="en-US" sz="1300">
                <a:solidFill>
                  <a:srgbClr val="2A3140"/>
                </a:solidFill>
                <a:latin typeface="Calibri"/>
                <a:ea typeface="Calibri"/>
                <a:cs typeface="Calibri"/>
                <a:sym typeface="Calibri"/>
              </a:rPr>
              <a:t>Full fine-tuning is computationally </a:t>
            </a:r>
            <a:r>
              <a:rPr lang="en-US" sz="1300">
                <a:solidFill>
                  <a:srgbClr val="0000FF"/>
                </a:solidFill>
                <a:latin typeface="Calibri"/>
                <a:ea typeface="Calibri"/>
                <a:cs typeface="Calibri"/>
                <a:sym typeface="Calibri"/>
              </a:rPr>
              <a:t>expensive</a:t>
            </a:r>
            <a:r>
              <a:rPr lang="en-US" sz="1300">
                <a:solidFill>
                  <a:srgbClr val="2A3140"/>
                </a:solidFill>
                <a:latin typeface="Calibri"/>
                <a:ea typeface="Calibri"/>
                <a:cs typeface="Calibri"/>
                <a:sym typeface="Calibri"/>
              </a:rPr>
              <a:t>, hard to scale</a:t>
            </a:r>
            <a:r>
              <a:rPr lang="en-US" sz="1300">
                <a:solidFill>
                  <a:srgbClr val="2A3140"/>
                </a:solidFill>
                <a:latin typeface="Calibri"/>
                <a:ea typeface="Calibri"/>
                <a:cs typeface="Calibri"/>
                <a:sym typeface="Calibri"/>
              </a:rPr>
              <a:t> across language pairs</a:t>
            </a:r>
            <a:r>
              <a:rPr lang="en-US" sz="1300">
                <a:solidFill>
                  <a:srgbClr val="2A3140"/>
                </a:solidFill>
                <a:latin typeface="Calibri"/>
                <a:ea typeface="Calibri"/>
                <a:cs typeface="Calibri"/>
                <a:sym typeface="Calibri"/>
              </a:rPr>
              <a:t> and risks overfitting. </a:t>
            </a:r>
            <a:endParaRPr sz="1300">
              <a:solidFill>
                <a:srgbClr val="2A3140"/>
              </a:solidFill>
              <a:latin typeface="Calibri"/>
              <a:ea typeface="Calibri"/>
              <a:cs typeface="Calibri"/>
              <a:sym typeface="Calibri"/>
            </a:endParaRPr>
          </a:p>
        </p:txBody>
      </p:sp>
      <p:sp>
        <p:nvSpPr>
          <p:cNvPr id="45" name="Google Shape;45;p4"/>
          <p:cNvSpPr/>
          <p:nvPr/>
        </p:nvSpPr>
        <p:spPr>
          <a:xfrm>
            <a:off x="1047087" y="3112807"/>
            <a:ext cx="4590300" cy="74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74151"/>
              </a:buClr>
              <a:buSzPts val="1300"/>
              <a:buFont typeface="Calibri"/>
              <a:buNone/>
            </a:pPr>
            <a:r>
              <a:rPr b="1" lang="en-US" sz="1300">
                <a:solidFill>
                  <a:schemeClr val="dk1"/>
                </a:solidFill>
                <a:latin typeface="Calibri"/>
                <a:ea typeface="Calibri"/>
                <a:cs typeface="Calibri"/>
                <a:sym typeface="Calibri"/>
              </a:rPr>
              <a:t>Approach: </a:t>
            </a:r>
            <a:r>
              <a:rPr i="0" lang="en-US" sz="1300" u="none" cap="none" strike="noStrike">
                <a:solidFill>
                  <a:srgbClr val="0000FF"/>
                </a:solidFill>
                <a:latin typeface="Calibri"/>
                <a:ea typeface="Calibri"/>
                <a:cs typeface="Calibri"/>
                <a:sym typeface="Calibri"/>
              </a:rPr>
              <a:t>PEFT</a:t>
            </a:r>
            <a:r>
              <a:rPr b="0" i="0" lang="en-US" sz="1300" u="none" cap="none" strike="noStrike">
                <a:solidFill>
                  <a:srgbClr val="374151"/>
                </a:solidFill>
                <a:latin typeface="Calibri"/>
                <a:ea typeface="Calibri"/>
                <a:cs typeface="Calibri"/>
                <a:sym typeface="Calibri"/>
              </a:rPr>
              <a:t> methods </a:t>
            </a:r>
            <a:r>
              <a:rPr lang="en-US" sz="1300">
                <a:solidFill>
                  <a:srgbClr val="374151"/>
                </a:solidFill>
                <a:latin typeface="Calibri"/>
                <a:ea typeface="Calibri"/>
                <a:cs typeface="Calibri"/>
                <a:sym typeface="Calibri"/>
              </a:rPr>
              <a:t>are </a:t>
            </a:r>
            <a:r>
              <a:rPr b="0" i="0" lang="en-US" sz="1300" u="none" cap="none" strike="noStrike">
                <a:solidFill>
                  <a:srgbClr val="374151"/>
                </a:solidFill>
                <a:latin typeface="Calibri"/>
                <a:ea typeface="Calibri"/>
                <a:cs typeface="Calibri"/>
                <a:sym typeface="Calibri"/>
              </a:rPr>
              <a:t>lightweight</a:t>
            </a:r>
            <a:r>
              <a:rPr lang="en-US" sz="1300">
                <a:solidFill>
                  <a:srgbClr val="374151"/>
                </a:solidFill>
                <a:latin typeface="Calibri"/>
                <a:ea typeface="Calibri"/>
                <a:cs typeface="Calibri"/>
                <a:sym typeface="Calibri"/>
              </a:rPr>
              <a:t>. </a:t>
            </a:r>
            <a:r>
              <a:rPr i="0" lang="en-US" sz="1300" u="none" cap="none" strike="noStrike">
                <a:solidFill>
                  <a:srgbClr val="0000FF"/>
                </a:solidFill>
                <a:latin typeface="Calibri"/>
                <a:ea typeface="Calibri"/>
                <a:cs typeface="Calibri"/>
                <a:sym typeface="Calibri"/>
              </a:rPr>
              <a:t>LoRA</a:t>
            </a:r>
            <a:r>
              <a:rPr i="0" lang="en-US" sz="1300" u="none" cap="none" strike="noStrike">
                <a:solidFill>
                  <a:srgbClr val="374151"/>
                </a:solidFill>
                <a:latin typeface="Calibri"/>
                <a:ea typeface="Calibri"/>
                <a:cs typeface="Calibri"/>
                <a:sym typeface="Calibri"/>
              </a:rPr>
              <a:t>,</a:t>
            </a:r>
            <a:r>
              <a:rPr b="1" i="0" lang="en-US" sz="1300" u="none" cap="none" strike="noStrike">
                <a:solidFill>
                  <a:srgbClr val="374151"/>
                </a:solidFill>
                <a:latin typeface="Calibri"/>
                <a:ea typeface="Calibri"/>
                <a:cs typeface="Calibri"/>
                <a:sym typeface="Calibri"/>
              </a:rPr>
              <a:t> </a:t>
            </a:r>
            <a:r>
              <a:rPr i="0" lang="en-US" sz="1300" u="none" cap="none" strike="noStrike">
                <a:solidFill>
                  <a:srgbClr val="0000FF"/>
                </a:solidFill>
                <a:latin typeface="Calibri"/>
                <a:ea typeface="Calibri"/>
                <a:cs typeface="Calibri"/>
                <a:sym typeface="Calibri"/>
              </a:rPr>
              <a:t>IA3</a:t>
            </a:r>
            <a:r>
              <a:rPr b="1" i="0" lang="en-US" sz="1300" u="none" cap="none" strike="noStrike">
                <a:solidFill>
                  <a:srgbClr val="374151"/>
                </a:solidFill>
                <a:latin typeface="Calibri"/>
                <a:ea typeface="Calibri"/>
                <a:cs typeface="Calibri"/>
                <a:sym typeface="Calibri"/>
              </a:rPr>
              <a:t>,</a:t>
            </a:r>
            <a:r>
              <a:rPr b="0" i="0" lang="en-US" sz="1300" u="none" cap="none" strike="noStrike">
                <a:solidFill>
                  <a:srgbClr val="374151"/>
                </a:solidFill>
                <a:latin typeface="Calibri"/>
                <a:ea typeface="Calibri"/>
                <a:cs typeface="Calibri"/>
                <a:sym typeface="Calibri"/>
              </a:rPr>
              <a:t> and </a:t>
            </a:r>
            <a:r>
              <a:rPr lang="en-US" sz="1300">
                <a:solidFill>
                  <a:srgbClr val="0000FF"/>
                </a:solidFill>
                <a:latin typeface="Calibri"/>
                <a:ea typeface="Calibri"/>
                <a:cs typeface="Calibri"/>
                <a:sym typeface="Calibri"/>
              </a:rPr>
              <a:t>P</a:t>
            </a:r>
            <a:r>
              <a:rPr i="0" lang="en-US" sz="1300" u="none" cap="none" strike="noStrike">
                <a:solidFill>
                  <a:srgbClr val="0000FF"/>
                </a:solidFill>
                <a:latin typeface="Calibri"/>
                <a:ea typeface="Calibri"/>
                <a:cs typeface="Calibri"/>
                <a:sym typeface="Calibri"/>
              </a:rPr>
              <a:t>refix</a:t>
            </a:r>
            <a:r>
              <a:rPr b="0" i="0" lang="en-US" sz="1300" u="none" cap="none" strike="noStrike">
                <a:solidFill>
                  <a:srgbClr val="374151"/>
                </a:solidFill>
                <a:latin typeface="Calibri"/>
                <a:ea typeface="Calibri"/>
                <a:cs typeface="Calibri"/>
                <a:sym typeface="Calibri"/>
              </a:rPr>
              <a:t> tuning keep the base model frozen while training less than 0.2% of the parameters.</a:t>
            </a:r>
            <a:endParaRPr b="0" i="0" sz="1300" u="none" cap="none" strike="noStrike">
              <a:solidFill>
                <a:srgbClr val="000000"/>
              </a:solidFill>
              <a:latin typeface="Calibri"/>
              <a:ea typeface="Calibri"/>
              <a:cs typeface="Calibri"/>
              <a:sym typeface="Calibri"/>
            </a:endParaRPr>
          </a:p>
        </p:txBody>
      </p:sp>
      <p:sp>
        <p:nvSpPr>
          <p:cNvPr id="46" name="Google Shape;46;p4"/>
          <p:cNvSpPr/>
          <p:nvPr/>
        </p:nvSpPr>
        <p:spPr>
          <a:xfrm>
            <a:off x="1102015" y="2233176"/>
            <a:ext cx="4590300" cy="749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2A3140"/>
                </a:solidFill>
                <a:latin typeface="Calibri"/>
                <a:ea typeface="Calibri"/>
                <a:cs typeface="Calibri"/>
                <a:sym typeface="Calibri"/>
              </a:rPr>
              <a:t>Setting: </a:t>
            </a:r>
            <a:r>
              <a:rPr lang="en-US" sz="1300">
                <a:solidFill>
                  <a:srgbClr val="2A3140"/>
                </a:solidFill>
                <a:latin typeface="Calibri"/>
                <a:ea typeface="Calibri"/>
                <a:cs typeface="Calibri"/>
                <a:sym typeface="Calibri"/>
              </a:rPr>
              <a:t>We evaluate Czech -&gt; English translation with NLLB-200-distilled-600M in a low-resource setting. </a:t>
            </a:r>
            <a:r>
              <a:rPr lang="en-US" sz="1300">
                <a:solidFill>
                  <a:srgbClr val="0000FF"/>
                </a:solidFill>
                <a:latin typeface="Calibri"/>
                <a:ea typeface="Calibri"/>
                <a:cs typeface="Calibri"/>
                <a:sym typeface="Calibri"/>
              </a:rPr>
              <a:t>Czech</a:t>
            </a:r>
            <a:r>
              <a:rPr lang="en-US" sz="1300">
                <a:solidFill>
                  <a:srgbClr val="2A3140"/>
                </a:solidFill>
                <a:latin typeface="Calibri"/>
                <a:ea typeface="Calibri"/>
                <a:cs typeface="Calibri"/>
                <a:sym typeface="Calibri"/>
              </a:rPr>
              <a:t> is challenging because of rich morphology and flexible word order.</a:t>
            </a:r>
            <a:endParaRPr sz="1300">
              <a:solidFill>
                <a:srgbClr val="2A3140"/>
              </a:solidFill>
              <a:latin typeface="Calibri"/>
              <a:ea typeface="Calibri"/>
              <a:cs typeface="Calibri"/>
              <a:sym typeface="Calibri"/>
            </a:endParaRPr>
          </a:p>
          <a:p>
            <a:pPr indent="0" lvl="0" marL="0" marR="0" rtl="0" algn="l">
              <a:lnSpc>
                <a:spcPct val="100000"/>
              </a:lnSpc>
              <a:spcBef>
                <a:spcPts val="0"/>
              </a:spcBef>
              <a:spcAft>
                <a:spcPts val="0"/>
              </a:spcAft>
              <a:buClr>
                <a:srgbClr val="374151"/>
              </a:buClr>
              <a:buSzPts val="1300"/>
              <a:buFont typeface="Calibri"/>
              <a:buNone/>
            </a:pPr>
            <a:r>
              <a:t/>
            </a:r>
            <a:endParaRPr sz="1600">
              <a:solidFill>
                <a:srgbClr val="2A3140"/>
              </a:solidFill>
              <a:latin typeface="Calibri"/>
              <a:ea typeface="Calibri"/>
              <a:cs typeface="Calibri"/>
              <a:sym typeface="Calibri"/>
            </a:endParaRPr>
          </a:p>
        </p:txBody>
      </p:sp>
      <p:sp>
        <p:nvSpPr>
          <p:cNvPr id="47" name="Google Shape;47;p4"/>
          <p:cNvSpPr/>
          <p:nvPr/>
        </p:nvSpPr>
        <p:spPr>
          <a:xfrm>
            <a:off x="1047087" y="4118647"/>
            <a:ext cx="4590300" cy="74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300">
                <a:solidFill>
                  <a:schemeClr val="dk1"/>
                </a:solidFill>
                <a:latin typeface="Calibri"/>
                <a:ea typeface="Calibri"/>
                <a:cs typeface="Calibri"/>
                <a:sym typeface="Calibri"/>
              </a:rPr>
              <a:t>Goal: </a:t>
            </a:r>
            <a:r>
              <a:rPr lang="en-US" sz="1300">
                <a:solidFill>
                  <a:schemeClr val="dk1"/>
                </a:solidFill>
                <a:latin typeface="Calibri"/>
                <a:ea typeface="Calibri"/>
                <a:cs typeface="Calibri"/>
                <a:sym typeface="Calibri"/>
              </a:rPr>
              <a:t>E</a:t>
            </a:r>
            <a:r>
              <a:rPr lang="en-US" sz="1300">
                <a:solidFill>
                  <a:schemeClr val="dk1"/>
                </a:solidFill>
                <a:latin typeface="Calibri"/>
                <a:ea typeface="Calibri"/>
                <a:cs typeface="Calibri"/>
                <a:sym typeface="Calibri"/>
              </a:rPr>
              <a:t>valuate whether PEFT methods preserve translation quality while substantially reducing the number of </a:t>
            </a:r>
            <a:r>
              <a:rPr lang="en-US" sz="1300">
                <a:solidFill>
                  <a:srgbClr val="0000FF"/>
                </a:solidFill>
                <a:latin typeface="Calibri"/>
                <a:ea typeface="Calibri"/>
                <a:cs typeface="Calibri"/>
                <a:sym typeface="Calibri"/>
              </a:rPr>
              <a:t>trainable parameters.</a:t>
            </a:r>
            <a:endParaRPr i="0" sz="1200" u="none" cap="none" strike="noStrike">
              <a:solidFill>
                <a:srgbClr val="0000F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5"/>
          <p:cNvSpPr/>
          <p:nvPr/>
        </p:nvSpPr>
        <p:spPr>
          <a:xfrm>
            <a:off x="457200" y="22860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Experiment Framework</a:t>
            </a:r>
            <a:endParaRPr b="0" i="0" sz="2800" u="none" cap="none" strike="noStrike">
              <a:solidFill>
                <a:schemeClr val="dk1"/>
              </a:solidFill>
              <a:latin typeface="Calibri"/>
              <a:ea typeface="Calibri"/>
              <a:cs typeface="Calibri"/>
              <a:sym typeface="Calibri"/>
            </a:endParaRPr>
          </a:p>
        </p:txBody>
      </p:sp>
      <p:sp>
        <p:nvSpPr>
          <p:cNvPr id="54" name="Google Shape;54;p5"/>
          <p:cNvSpPr/>
          <p:nvPr/>
        </p:nvSpPr>
        <p:spPr>
          <a:xfrm>
            <a:off x="457200" y="914400"/>
            <a:ext cx="8229600" cy="1828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5" title="experiment_framework_v6.png"/>
          <p:cNvPicPr preferRelativeResize="0"/>
          <p:nvPr/>
        </p:nvPicPr>
        <p:blipFill rotWithShape="1">
          <a:blip r:embed="rId3">
            <a:alphaModFix/>
          </a:blip>
          <a:srcRect b="12529" l="2326" r="8204" t="9260"/>
          <a:stretch/>
        </p:blipFill>
        <p:spPr>
          <a:xfrm>
            <a:off x="2990992" y="1138696"/>
            <a:ext cx="5841623" cy="3335999"/>
          </a:xfrm>
          <a:prstGeom prst="rect">
            <a:avLst/>
          </a:prstGeom>
          <a:noFill/>
          <a:ln>
            <a:noFill/>
          </a:ln>
        </p:spPr>
      </p:pic>
      <p:sp>
        <p:nvSpPr>
          <p:cNvPr id="56" name="Google Shape;56;p5"/>
          <p:cNvSpPr/>
          <p:nvPr/>
        </p:nvSpPr>
        <p:spPr>
          <a:xfrm>
            <a:off x="457200" y="1392150"/>
            <a:ext cx="3040800" cy="3147300"/>
          </a:xfrm>
          <a:prstGeom prst="rect">
            <a:avLst/>
          </a:prstGeom>
          <a:noFill/>
          <a:ln>
            <a:noFill/>
          </a:ln>
        </p:spPr>
        <p:txBody>
          <a:bodyPr anchorCtr="0" anchor="t" bIns="45700" lIns="91425" spcFirstLastPara="1" rIns="91425" wrap="square" tIns="45700">
            <a:noAutofit/>
          </a:bodyPr>
          <a:lstStyle/>
          <a:p>
            <a:pPr indent="-186690" lvl="0" marL="182880" marR="0" rtl="0" algn="l">
              <a:spcBef>
                <a:spcPts val="0"/>
              </a:spcBef>
              <a:spcAft>
                <a:spcPts val="0"/>
              </a:spcAft>
              <a:buClr>
                <a:srgbClr val="1E2761"/>
              </a:buClr>
              <a:buSzPts val="1500"/>
              <a:buFont typeface="Calibri"/>
              <a:buChar char="●"/>
            </a:pPr>
            <a:r>
              <a:rPr b="1" lang="en-US" sz="1500" u="none" cap="none" strike="noStrike">
                <a:solidFill>
                  <a:srgbClr val="1E2761"/>
                </a:solidFill>
                <a:latin typeface="Calibri"/>
                <a:ea typeface="Calibri"/>
                <a:cs typeface="Calibri"/>
                <a:sym typeface="Calibri"/>
              </a:rPr>
              <a:t>Same base model</a:t>
            </a:r>
            <a:endParaRPr b="1" sz="1500">
              <a:solidFill>
                <a:srgbClr val="1E2761"/>
              </a:solidFill>
              <a:latin typeface="Calibri"/>
              <a:ea typeface="Calibri"/>
              <a:cs typeface="Calibri"/>
              <a:sym typeface="Calibri"/>
            </a:endParaRPr>
          </a:p>
          <a:p>
            <a:pPr indent="-186690" lvl="0" marL="182880" marR="0" rtl="0" algn="l">
              <a:spcBef>
                <a:spcPts val="0"/>
              </a:spcBef>
              <a:spcAft>
                <a:spcPts val="0"/>
              </a:spcAft>
              <a:buClr>
                <a:srgbClr val="1E2761"/>
              </a:buClr>
              <a:buSzPts val="1500"/>
              <a:buFont typeface="Calibri"/>
              <a:buChar char="●"/>
            </a:pPr>
            <a:r>
              <a:rPr b="1" lang="en-US" sz="1500" u="none" cap="none" strike="noStrike">
                <a:solidFill>
                  <a:srgbClr val="1E2761"/>
                </a:solidFill>
                <a:latin typeface="Calibri"/>
                <a:ea typeface="Calibri"/>
                <a:cs typeface="Calibri"/>
                <a:sym typeface="Calibri"/>
              </a:rPr>
              <a:t>Same dataset</a:t>
            </a:r>
            <a:endParaRPr b="1" sz="1500">
              <a:solidFill>
                <a:srgbClr val="1E2761"/>
              </a:solidFill>
              <a:latin typeface="Calibri"/>
              <a:ea typeface="Calibri"/>
              <a:cs typeface="Calibri"/>
              <a:sym typeface="Calibri"/>
            </a:endParaRPr>
          </a:p>
          <a:p>
            <a:pPr indent="-232410" lvl="1" marL="457200" marR="0" rtl="0" algn="l">
              <a:spcBef>
                <a:spcPts val="0"/>
              </a:spcBef>
              <a:spcAft>
                <a:spcPts val="0"/>
              </a:spcAft>
              <a:buClr>
                <a:srgbClr val="1E2761"/>
              </a:buClr>
              <a:buSzPts val="1500"/>
              <a:buFont typeface="Calibri"/>
              <a:buChar char="○"/>
            </a:pPr>
            <a:r>
              <a:rPr lang="en-US">
                <a:solidFill>
                  <a:srgbClr val="1E2761"/>
                </a:solidFill>
                <a:latin typeface="Calibri"/>
                <a:ea typeface="Calibri"/>
                <a:cs typeface="Calibri"/>
                <a:sym typeface="Calibri"/>
              </a:rPr>
              <a:t>WMT18 Czech-English</a:t>
            </a:r>
            <a:endParaRPr>
              <a:solidFill>
                <a:srgbClr val="1E2761"/>
              </a:solidFill>
              <a:latin typeface="Calibri"/>
              <a:ea typeface="Calibri"/>
              <a:cs typeface="Calibri"/>
              <a:sym typeface="Calibri"/>
            </a:endParaRPr>
          </a:p>
          <a:p>
            <a:pPr indent="-232410" lvl="1" marL="457200" marR="0" rtl="0" algn="l">
              <a:spcBef>
                <a:spcPts val="0"/>
              </a:spcBef>
              <a:spcAft>
                <a:spcPts val="0"/>
              </a:spcAft>
              <a:buClr>
                <a:srgbClr val="1E2761"/>
              </a:buClr>
              <a:buSzPts val="1500"/>
              <a:buFont typeface="Calibri"/>
              <a:buChar char="○"/>
            </a:pPr>
            <a:r>
              <a:rPr lang="en-US">
                <a:solidFill>
                  <a:srgbClr val="1E2761"/>
                </a:solidFill>
                <a:latin typeface="Calibri"/>
                <a:ea typeface="Calibri"/>
                <a:cs typeface="Calibri"/>
                <a:sym typeface="Calibri"/>
              </a:rPr>
              <a:t>48k/1k/1k split</a:t>
            </a:r>
            <a:endParaRPr>
              <a:solidFill>
                <a:srgbClr val="1E2761"/>
              </a:solidFill>
              <a:latin typeface="Calibri"/>
              <a:ea typeface="Calibri"/>
              <a:cs typeface="Calibri"/>
              <a:sym typeface="Calibri"/>
            </a:endParaRPr>
          </a:p>
          <a:p>
            <a:pPr indent="-186690" lvl="0" marL="182880" marR="0" rtl="0" algn="l">
              <a:spcBef>
                <a:spcPts val="0"/>
              </a:spcBef>
              <a:spcAft>
                <a:spcPts val="0"/>
              </a:spcAft>
              <a:buClr>
                <a:srgbClr val="1E2761"/>
              </a:buClr>
              <a:buSzPts val="1500"/>
              <a:buFont typeface="Calibri"/>
              <a:buChar char="●"/>
            </a:pPr>
            <a:r>
              <a:rPr b="1" lang="en-US" sz="1500">
                <a:solidFill>
                  <a:srgbClr val="1E2761"/>
                </a:solidFill>
                <a:latin typeface="Calibri"/>
                <a:ea typeface="Calibri"/>
                <a:cs typeface="Calibri"/>
                <a:sym typeface="Calibri"/>
              </a:rPr>
              <a:t>Same evaluation metrics</a:t>
            </a:r>
            <a:endParaRPr b="1" sz="1500">
              <a:solidFill>
                <a:srgbClr val="1E2761"/>
              </a:solidFill>
              <a:latin typeface="Calibri"/>
              <a:ea typeface="Calibri"/>
              <a:cs typeface="Calibri"/>
              <a:sym typeface="Calibri"/>
            </a:endParaRPr>
          </a:p>
          <a:p>
            <a:pPr indent="-232410" lvl="1" marL="457200" marR="0" rtl="0" algn="l">
              <a:spcBef>
                <a:spcPts val="0"/>
              </a:spcBef>
              <a:spcAft>
                <a:spcPts val="0"/>
              </a:spcAft>
              <a:buClr>
                <a:srgbClr val="1E2761"/>
              </a:buClr>
              <a:buSzPts val="1500"/>
              <a:buFont typeface="Calibri"/>
              <a:buChar char="○"/>
            </a:pPr>
            <a:r>
              <a:rPr lang="en-US">
                <a:solidFill>
                  <a:srgbClr val="1E2761"/>
                </a:solidFill>
                <a:latin typeface="Calibri"/>
                <a:ea typeface="Calibri"/>
                <a:cs typeface="Calibri"/>
                <a:sym typeface="Calibri"/>
              </a:rPr>
              <a:t>BLEU, chrF, COMET</a:t>
            </a:r>
            <a:endParaRPr>
              <a:solidFill>
                <a:srgbClr val="1E2761"/>
              </a:solidFill>
              <a:latin typeface="Calibri"/>
              <a:ea typeface="Calibri"/>
              <a:cs typeface="Calibri"/>
              <a:sym typeface="Calibri"/>
            </a:endParaRPr>
          </a:p>
          <a:p>
            <a:pPr indent="-186690" lvl="0" marL="182880" marR="0" rtl="0" algn="l">
              <a:spcBef>
                <a:spcPts val="0"/>
              </a:spcBef>
              <a:spcAft>
                <a:spcPts val="0"/>
              </a:spcAft>
              <a:buClr>
                <a:srgbClr val="1E2761"/>
              </a:buClr>
              <a:buSzPts val="1500"/>
              <a:buFont typeface="Calibri"/>
              <a:buChar char="●"/>
            </a:pPr>
            <a:r>
              <a:rPr b="1" lang="en-US" sz="1500">
                <a:solidFill>
                  <a:srgbClr val="1E2761"/>
                </a:solidFill>
                <a:latin typeface="Calibri"/>
                <a:ea typeface="Calibri"/>
                <a:cs typeface="Calibri"/>
                <a:sym typeface="Calibri"/>
              </a:rPr>
              <a:t>Five pipelines</a:t>
            </a:r>
            <a:endParaRPr b="1" sz="1500">
              <a:solidFill>
                <a:srgbClr val="1E2761"/>
              </a:solidFill>
              <a:latin typeface="Calibri"/>
              <a:ea typeface="Calibri"/>
              <a:cs typeface="Calibri"/>
              <a:sym typeface="Calibri"/>
            </a:endParaRPr>
          </a:p>
          <a:p>
            <a:pPr indent="-232410" lvl="1" marL="457200" marR="0" rtl="0" algn="l">
              <a:spcBef>
                <a:spcPts val="0"/>
              </a:spcBef>
              <a:spcAft>
                <a:spcPts val="0"/>
              </a:spcAft>
              <a:buClr>
                <a:srgbClr val="1E2761"/>
              </a:buClr>
              <a:buSzPts val="1500"/>
              <a:buFont typeface="Calibri"/>
              <a:buChar char="○"/>
            </a:pPr>
            <a:r>
              <a:rPr lang="en-US">
                <a:solidFill>
                  <a:srgbClr val="1E2761"/>
                </a:solidFill>
                <a:latin typeface="Calibri"/>
                <a:ea typeface="Calibri"/>
                <a:cs typeface="Calibri"/>
                <a:sym typeface="Calibri"/>
              </a:rPr>
              <a:t>Baselines: Zero shot, full fine-tuning</a:t>
            </a:r>
            <a:endParaRPr>
              <a:solidFill>
                <a:srgbClr val="1E2761"/>
              </a:solidFill>
              <a:latin typeface="Calibri"/>
              <a:ea typeface="Calibri"/>
              <a:cs typeface="Calibri"/>
              <a:sym typeface="Calibri"/>
            </a:endParaRPr>
          </a:p>
          <a:p>
            <a:pPr indent="-232410" lvl="1" marL="457200" marR="0" rtl="0" algn="l">
              <a:spcBef>
                <a:spcPts val="0"/>
              </a:spcBef>
              <a:spcAft>
                <a:spcPts val="0"/>
              </a:spcAft>
              <a:buClr>
                <a:srgbClr val="1E2761"/>
              </a:buClr>
              <a:buSzPts val="1500"/>
              <a:buFont typeface="Calibri"/>
              <a:buChar char="○"/>
            </a:pPr>
            <a:r>
              <a:rPr lang="en-US">
                <a:solidFill>
                  <a:srgbClr val="1E2761"/>
                </a:solidFill>
                <a:latin typeface="Calibri"/>
                <a:ea typeface="Calibri"/>
                <a:cs typeface="Calibri"/>
                <a:sym typeface="Calibri"/>
              </a:rPr>
              <a:t>PEFT methods: LoRA, IA3, Prefix tuning</a:t>
            </a:r>
            <a:endParaRPr>
              <a:solidFill>
                <a:srgbClr val="1E276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sp>
        <p:nvSpPr>
          <p:cNvPr id="62" name="Google Shape;62;p6"/>
          <p:cNvSpPr/>
          <p:nvPr/>
        </p:nvSpPr>
        <p:spPr>
          <a:xfrm>
            <a:off x="457200" y="22860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Results</a:t>
            </a:r>
            <a:endParaRPr b="0" i="0" sz="2800" u="none" cap="none" strike="noStrike">
              <a:solidFill>
                <a:schemeClr val="dk1"/>
              </a:solidFill>
              <a:latin typeface="Calibri"/>
              <a:ea typeface="Calibri"/>
              <a:cs typeface="Calibri"/>
              <a:sym typeface="Calibri"/>
            </a:endParaRPr>
          </a:p>
        </p:txBody>
      </p:sp>
      <p:sp>
        <p:nvSpPr>
          <p:cNvPr id="63" name="Google Shape;63;p6"/>
          <p:cNvSpPr/>
          <p:nvPr/>
        </p:nvSpPr>
        <p:spPr>
          <a:xfrm>
            <a:off x="457200" y="914400"/>
            <a:ext cx="8229600" cy="1828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64" name="Google Shape;64;p6"/>
          <p:cNvGraphicFramePr/>
          <p:nvPr/>
        </p:nvGraphicFramePr>
        <p:xfrm>
          <a:off x="982200" y="1117355"/>
          <a:ext cx="3000000" cy="3000000"/>
        </p:xfrm>
        <a:graphic>
          <a:graphicData uri="http://schemas.openxmlformats.org/drawingml/2006/table">
            <a:tbl>
              <a:tblPr>
                <a:noFill/>
                <a:tableStyleId>{EA53279C-7645-44CB-8ED3-BF2F02502B3F}</a:tableStyleId>
              </a:tblPr>
              <a:tblGrid>
                <a:gridCol w="1566975"/>
                <a:gridCol w="1424525"/>
                <a:gridCol w="1411425"/>
                <a:gridCol w="1376850"/>
                <a:gridCol w="1414675"/>
              </a:tblGrid>
              <a:tr h="532350">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System</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Trainable params</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BLEU</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COMET</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chrF</a:t>
                      </a:r>
                      <a:endParaRPr b="1" sz="1300" u="none" cap="none" strike="noStrike">
                        <a:solidFill>
                          <a:srgbClr val="FFFFFF"/>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1E2761"/>
                    </a:solidFill>
                  </a:tcPr>
                </a:tc>
              </a:tr>
              <a:tr h="532350">
                <a:tc>
                  <a:txBody>
                    <a:bodyPr/>
                    <a:lstStyle/>
                    <a:p>
                      <a:pPr indent="0" lvl="0" marL="0" marR="0" rtl="0" algn="ctr">
                        <a:spcBef>
                          <a:spcPts val="0"/>
                        </a:spcBef>
                        <a:spcAft>
                          <a:spcPts val="0"/>
                        </a:spcAft>
                        <a:buClr>
                          <a:srgbClr val="5F5E5A"/>
                        </a:buClr>
                        <a:buSzPts val="1300"/>
                        <a:buFont typeface="Calibri"/>
                        <a:buNone/>
                      </a:pPr>
                      <a:r>
                        <a:rPr b="1" lang="en-US" sz="1300" u="none" cap="none" strike="noStrike">
                          <a:solidFill>
                            <a:srgbClr val="5F5E5A"/>
                          </a:solidFill>
                          <a:latin typeface="Calibri"/>
                          <a:ea typeface="Calibri"/>
                          <a:cs typeface="Calibri"/>
                          <a:sym typeface="Calibri"/>
                        </a:rPr>
                        <a:t>Zero-shot</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EFE8"/>
                    </a:solidFill>
                  </a:tcPr>
                </a:tc>
                <a:tc>
                  <a:txBody>
                    <a:bodyPr/>
                    <a:lstStyle/>
                    <a:p>
                      <a:pPr indent="0" lvl="0" marL="0" marR="0" rtl="0" algn="ctr">
                        <a:spcBef>
                          <a:spcPts val="0"/>
                        </a:spcBef>
                        <a:spcAft>
                          <a:spcPts val="0"/>
                        </a:spcAft>
                        <a:buClr>
                          <a:srgbClr val="5F5E5A"/>
                        </a:buClr>
                        <a:buSzPts val="1300"/>
                        <a:buFont typeface="Calibri"/>
                        <a:buNone/>
                      </a:pPr>
                      <a:r>
                        <a:rPr lang="en-US" sz="1300" u="none" cap="none" strike="noStrike">
                          <a:solidFill>
                            <a:srgbClr val="5F5E5A"/>
                          </a:solidFill>
                          <a:latin typeface="Calibri"/>
                          <a:ea typeface="Calibri"/>
                          <a:cs typeface="Calibri"/>
                          <a:sym typeface="Calibri"/>
                        </a:rPr>
                        <a:t>0</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EFE8"/>
                    </a:solidFill>
                  </a:tcPr>
                </a:tc>
                <a:tc>
                  <a:txBody>
                    <a:bodyPr/>
                    <a:lstStyle/>
                    <a:p>
                      <a:pPr indent="0" lvl="0" marL="0" marR="0" rtl="0" algn="ctr">
                        <a:spcBef>
                          <a:spcPts val="0"/>
                        </a:spcBef>
                        <a:spcAft>
                          <a:spcPts val="0"/>
                        </a:spcAft>
                        <a:buClr>
                          <a:srgbClr val="5F5E5A"/>
                        </a:buClr>
                        <a:buSzPts val="1300"/>
                        <a:buFont typeface="Calibri"/>
                        <a:buNone/>
                      </a:pPr>
                      <a:r>
                        <a:rPr lang="en-US" sz="1300" u="none" cap="none" strike="noStrike">
                          <a:solidFill>
                            <a:srgbClr val="5F5E5A"/>
                          </a:solidFill>
                          <a:latin typeface="Calibri"/>
                          <a:ea typeface="Calibri"/>
                          <a:cs typeface="Calibri"/>
                          <a:sym typeface="Calibri"/>
                        </a:rPr>
                        <a:t>23.04</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EFE8"/>
                    </a:solidFill>
                  </a:tcPr>
                </a:tc>
                <a:tc>
                  <a:txBody>
                    <a:bodyPr/>
                    <a:lstStyle/>
                    <a:p>
                      <a:pPr indent="0" lvl="0" marL="0" marR="0" rtl="0" algn="ctr">
                        <a:spcBef>
                          <a:spcPts val="0"/>
                        </a:spcBef>
                        <a:spcAft>
                          <a:spcPts val="0"/>
                        </a:spcAft>
                        <a:buClr>
                          <a:srgbClr val="5F5E5A"/>
                        </a:buClr>
                        <a:buSzPts val="1300"/>
                        <a:buFont typeface="Calibri"/>
                        <a:buNone/>
                      </a:pPr>
                      <a:r>
                        <a:rPr lang="en-US" sz="1300" u="none" cap="none" strike="noStrike">
                          <a:solidFill>
                            <a:srgbClr val="5F5E5A"/>
                          </a:solidFill>
                          <a:latin typeface="Calibri"/>
                          <a:ea typeface="Calibri"/>
                          <a:cs typeface="Calibri"/>
                          <a:sym typeface="Calibri"/>
                        </a:rPr>
                        <a:t>0.741</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EFE8"/>
                    </a:solidFill>
                  </a:tcPr>
                </a:tc>
                <a:tc>
                  <a:txBody>
                    <a:bodyPr/>
                    <a:lstStyle/>
                    <a:p>
                      <a:pPr indent="0" lvl="0" marL="0" marR="0" rtl="0" algn="ctr">
                        <a:spcBef>
                          <a:spcPts val="0"/>
                        </a:spcBef>
                        <a:spcAft>
                          <a:spcPts val="0"/>
                        </a:spcAft>
                        <a:buClr>
                          <a:srgbClr val="5F5E5A"/>
                        </a:buClr>
                        <a:buSzPts val="1300"/>
                        <a:buFont typeface="Calibri"/>
                        <a:buNone/>
                      </a:pPr>
                      <a:r>
                        <a:rPr lang="en-US" sz="1300" u="none" cap="none" strike="noStrike">
                          <a:solidFill>
                            <a:srgbClr val="5F5E5A"/>
                          </a:solidFill>
                          <a:latin typeface="Calibri"/>
                          <a:ea typeface="Calibri"/>
                          <a:cs typeface="Calibri"/>
                          <a:sym typeface="Calibri"/>
                        </a:rPr>
                        <a:t>50.11</a:t>
                      </a:r>
                      <a:endParaRPr sz="1300" u="none" cap="none" strike="noStrike">
                        <a:solidFill>
                          <a:srgbClr val="5F5E5A"/>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EFE8"/>
                    </a:solidFill>
                  </a:tcPr>
                </a:tc>
              </a:tr>
              <a:tr h="532350">
                <a:tc>
                  <a:txBody>
                    <a:bodyPr/>
                    <a:lstStyle/>
                    <a:p>
                      <a:pPr indent="0" lvl="0" marL="0" marR="0" rtl="0" algn="ctr">
                        <a:spcBef>
                          <a:spcPts val="0"/>
                        </a:spcBef>
                        <a:spcAft>
                          <a:spcPts val="0"/>
                        </a:spcAft>
                        <a:buClr>
                          <a:srgbClr val="534AB7"/>
                        </a:buClr>
                        <a:buSzPts val="1300"/>
                        <a:buFont typeface="Calibri"/>
                        <a:buNone/>
                      </a:pPr>
                      <a:r>
                        <a:rPr b="1" lang="en-US" sz="1300" u="none" cap="none" strike="noStrike">
                          <a:solidFill>
                            <a:srgbClr val="534AB7"/>
                          </a:solidFill>
                          <a:latin typeface="Calibri"/>
                          <a:ea typeface="Calibri"/>
                          <a:cs typeface="Calibri"/>
                          <a:sym typeface="Calibri"/>
                        </a:rPr>
                        <a:t>LoRA</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rtl="0" algn="ctr">
                        <a:spcBef>
                          <a:spcPts val="0"/>
                        </a:spcBef>
                        <a:spcAft>
                          <a:spcPts val="0"/>
                        </a:spcAft>
                        <a:buClr>
                          <a:srgbClr val="534AB7"/>
                        </a:buClr>
                        <a:buSzPts val="1300"/>
                        <a:buFont typeface="Calibri"/>
                        <a:buNone/>
                      </a:pPr>
                      <a:r>
                        <a:rPr lang="en-US" sz="1300">
                          <a:solidFill>
                            <a:srgbClr val="534AB7"/>
                          </a:solidFill>
                          <a:latin typeface="Calibri"/>
                          <a:ea typeface="Calibri"/>
                          <a:cs typeface="Calibri"/>
                          <a:sym typeface="Calibri"/>
                        </a:rPr>
                        <a:t>1.18M(0.19%)</a:t>
                      </a:r>
                      <a:endParaRPr sz="1300">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rtl="0" algn="ctr">
                        <a:spcBef>
                          <a:spcPts val="0"/>
                        </a:spcBef>
                        <a:spcAft>
                          <a:spcPts val="0"/>
                        </a:spcAft>
                        <a:buClr>
                          <a:srgbClr val="534AB7"/>
                        </a:buClr>
                        <a:buSzPts val="1300"/>
                        <a:buFont typeface="Calibri"/>
                        <a:buNone/>
                      </a:pPr>
                      <a:r>
                        <a:rPr b="1" lang="en-US" sz="1300">
                          <a:solidFill>
                            <a:srgbClr val="534AB7"/>
                          </a:solidFill>
                          <a:latin typeface="Calibri"/>
                          <a:ea typeface="Calibri"/>
                          <a:cs typeface="Calibri"/>
                          <a:sym typeface="Calibri"/>
                        </a:rPr>
                        <a:t>31.70</a:t>
                      </a:r>
                      <a:endParaRPr b="1" sz="1300">
                        <a:solidFill>
                          <a:srgbClr val="534AB7"/>
                        </a:solidFill>
                        <a:latin typeface="Calibri"/>
                        <a:ea typeface="Calibri"/>
                        <a:cs typeface="Calibri"/>
                        <a:sym typeface="Calibri"/>
                      </a:endParaRPr>
                    </a:p>
                    <a:p>
                      <a:pPr indent="0" lvl="0" marL="0" rtl="0" algn="ctr">
                        <a:spcBef>
                          <a:spcPts val="0"/>
                        </a:spcBef>
                        <a:spcAft>
                          <a:spcPts val="0"/>
                        </a:spcAft>
                        <a:buClr>
                          <a:srgbClr val="534AB7"/>
                        </a:buClr>
                        <a:buSzPts val="1300"/>
                        <a:buFont typeface="Calibri"/>
                        <a:buNone/>
                      </a:pPr>
                      <a:r>
                        <a:rPr b="1" lang="en-US" sz="900">
                          <a:solidFill>
                            <a:srgbClr val="6AA84F"/>
                          </a:solidFill>
                          <a:latin typeface="Calibri"/>
                          <a:ea typeface="Calibri"/>
                          <a:cs typeface="Calibri"/>
                          <a:sym typeface="Calibri"/>
                        </a:rPr>
                        <a:t>best BLEU</a:t>
                      </a:r>
                      <a:endParaRPr b="1" sz="900">
                        <a:solidFill>
                          <a:srgbClr val="6AA84F"/>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rtl="0" algn="ctr">
                        <a:spcBef>
                          <a:spcPts val="0"/>
                        </a:spcBef>
                        <a:spcAft>
                          <a:spcPts val="0"/>
                        </a:spcAft>
                        <a:buClr>
                          <a:srgbClr val="534AB7"/>
                        </a:buClr>
                        <a:buSzPts val="1300"/>
                        <a:buFont typeface="Calibri"/>
                        <a:buNone/>
                      </a:pPr>
                      <a:r>
                        <a:rPr lang="en-US" sz="1300">
                          <a:solidFill>
                            <a:srgbClr val="534AB7"/>
                          </a:solidFill>
                          <a:latin typeface="Calibri"/>
                          <a:ea typeface="Calibri"/>
                          <a:cs typeface="Calibri"/>
                          <a:sym typeface="Calibri"/>
                        </a:rPr>
                        <a:t>0.831</a:t>
                      </a:r>
                      <a:endParaRPr i="1" sz="1300">
                        <a:solidFill>
                          <a:srgbClr val="64748B"/>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rtl="0" algn="ctr">
                        <a:spcBef>
                          <a:spcPts val="0"/>
                        </a:spcBef>
                        <a:spcAft>
                          <a:spcPts val="0"/>
                        </a:spcAft>
                        <a:buClr>
                          <a:srgbClr val="534AB7"/>
                        </a:buClr>
                        <a:buSzPts val="1300"/>
                        <a:buFont typeface="Calibri"/>
                        <a:buNone/>
                      </a:pPr>
                      <a:r>
                        <a:rPr b="1" lang="en-US" sz="1300">
                          <a:solidFill>
                            <a:srgbClr val="534AB7"/>
                          </a:solidFill>
                          <a:latin typeface="Calibri"/>
                          <a:ea typeface="Calibri"/>
                          <a:cs typeface="Calibri"/>
                          <a:sym typeface="Calibri"/>
                        </a:rPr>
                        <a:t>57.82</a:t>
                      </a:r>
                      <a:endParaRPr b="1" i="1" sz="1300">
                        <a:solidFill>
                          <a:srgbClr val="64748B"/>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r>
              <a:tr h="532350">
                <a:tc>
                  <a:txBody>
                    <a:bodyPr/>
                    <a:lstStyle/>
                    <a:p>
                      <a:pPr indent="0" lvl="0" marL="0" marR="0" rtl="0" algn="ctr">
                        <a:spcBef>
                          <a:spcPts val="0"/>
                        </a:spcBef>
                        <a:spcAft>
                          <a:spcPts val="0"/>
                        </a:spcAft>
                        <a:buClr>
                          <a:srgbClr val="534AB7"/>
                        </a:buClr>
                        <a:buSzPts val="1300"/>
                        <a:buFont typeface="Calibri"/>
                        <a:buNone/>
                      </a:pPr>
                      <a:r>
                        <a:rPr b="1" lang="en-US" sz="1300" u="none" cap="none" strike="noStrike">
                          <a:solidFill>
                            <a:srgbClr val="534AB7"/>
                          </a:solidFill>
                          <a:latin typeface="Calibri"/>
                          <a:ea typeface="Calibri"/>
                          <a:cs typeface="Calibri"/>
                          <a:sym typeface="Calibri"/>
                        </a:rPr>
                        <a:t>IA³</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marR="0" rtl="0" algn="ctr">
                        <a:spcBef>
                          <a:spcPts val="0"/>
                        </a:spcBef>
                        <a:spcAft>
                          <a:spcPts val="0"/>
                        </a:spcAft>
                        <a:buClr>
                          <a:srgbClr val="534AB7"/>
                        </a:buClr>
                        <a:buSzPts val="1300"/>
                        <a:buFont typeface="Calibri"/>
                        <a:buNone/>
                      </a:pPr>
                      <a:r>
                        <a:rPr lang="en-US" sz="1300" u="none" cap="none" strike="noStrike">
                          <a:solidFill>
                            <a:srgbClr val="534AB7"/>
                          </a:solidFill>
                          <a:latin typeface="Calibri"/>
                          <a:ea typeface="Calibri"/>
                          <a:cs typeface="Calibri"/>
                          <a:sym typeface="Calibri"/>
                        </a:rPr>
                        <a:t>560k (0.09%)</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marR="0" rtl="0" algn="ctr">
                        <a:spcBef>
                          <a:spcPts val="0"/>
                        </a:spcBef>
                        <a:spcAft>
                          <a:spcPts val="0"/>
                        </a:spcAft>
                        <a:buClr>
                          <a:srgbClr val="534AB7"/>
                        </a:buClr>
                        <a:buSzPts val="1300"/>
                        <a:buFont typeface="Calibri"/>
                        <a:buNone/>
                      </a:pPr>
                      <a:r>
                        <a:rPr lang="en-US" sz="1300" u="none" cap="none" strike="noStrike">
                          <a:solidFill>
                            <a:srgbClr val="534AB7"/>
                          </a:solidFill>
                          <a:latin typeface="Calibri"/>
                          <a:ea typeface="Calibri"/>
                          <a:cs typeface="Calibri"/>
                          <a:sym typeface="Calibri"/>
                        </a:rPr>
                        <a:t>30.26</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marR="0" rtl="0" algn="ctr">
                        <a:spcBef>
                          <a:spcPts val="0"/>
                        </a:spcBef>
                        <a:spcAft>
                          <a:spcPts val="0"/>
                        </a:spcAft>
                        <a:buClr>
                          <a:srgbClr val="534AB7"/>
                        </a:buClr>
                        <a:buSzPts val="1300"/>
                        <a:buFont typeface="Calibri"/>
                        <a:buNone/>
                      </a:pPr>
                      <a:r>
                        <a:rPr lang="en-US" sz="1300" u="none" cap="none" strike="noStrike">
                          <a:solidFill>
                            <a:srgbClr val="534AB7"/>
                          </a:solidFill>
                          <a:latin typeface="Calibri"/>
                          <a:ea typeface="Calibri"/>
                          <a:cs typeface="Calibri"/>
                          <a:sym typeface="Calibri"/>
                        </a:rPr>
                        <a:t>0.828</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marR="0" rtl="0" algn="ctr">
                        <a:spcBef>
                          <a:spcPts val="0"/>
                        </a:spcBef>
                        <a:spcAft>
                          <a:spcPts val="0"/>
                        </a:spcAft>
                        <a:buClr>
                          <a:srgbClr val="534AB7"/>
                        </a:buClr>
                        <a:buSzPts val="1300"/>
                        <a:buFont typeface="Calibri"/>
                        <a:buNone/>
                      </a:pPr>
                      <a:r>
                        <a:rPr lang="en-US" sz="1300" u="none" cap="none" strike="noStrike">
                          <a:solidFill>
                            <a:srgbClr val="534AB7"/>
                          </a:solidFill>
                          <a:latin typeface="Calibri"/>
                          <a:ea typeface="Calibri"/>
                          <a:cs typeface="Calibri"/>
                          <a:sym typeface="Calibri"/>
                        </a:rPr>
                        <a:t>56.83</a:t>
                      </a:r>
                      <a:endParaRPr sz="1300" u="none" cap="none" strike="noStrike">
                        <a:solidFill>
                          <a:srgbClr val="534AB7"/>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r>
              <a:tr h="532350">
                <a:tc>
                  <a:txBody>
                    <a:bodyPr/>
                    <a:lstStyle/>
                    <a:p>
                      <a:pPr indent="0" lvl="0" marL="0" marR="0" rtl="0" algn="ctr">
                        <a:spcBef>
                          <a:spcPts val="0"/>
                        </a:spcBef>
                        <a:spcAft>
                          <a:spcPts val="0"/>
                        </a:spcAft>
                        <a:buClr>
                          <a:srgbClr val="534AB7"/>
                        </a:buClr>
                        <a:buSzPts val="1300"/>
                        <a:buFont typeface="Calibri"/>
                        <a:buNone/>
                      </a:pPr>
                      <a:r>
                        <a:rPr b="1" lang="en-US" sz="1300" u="none" cap="none" strike="noStrike">
                          <a:solidFill>
                            <a:srgbClr val="534AB7"/>
                          </a:solidFill>
                          <a:latin typeface="Calibri"/>
                          <a:ea typeface="Calibri"/>
                          <a:cs typeface="Calibri"/>
                          <a:sym typeface="Calibri"/>
                        </a:rPr>
                        <a:t>Prefix tuning</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marR="0" rtl="0" algn="ctr">
                        <a:spcBef>
                          <a:spcPts val="0"/>
                        </a:spcBef>
                        <a:spcAft>
                          <a:spcPts val="0"/>
                        </a:spcAft>
                        <a:buClr>
                          <a:srgbClr val="64748B"/>
                        </a:buClr>
                        <a:buSzPts val="1300"/>
                        <a:buFont typeface="Calibri"/>
                        <a:buNone/>
                      </a:pPr>
                      <a:r>
                        <a:rPr lang="en-US" sz="1300">
                          <a:solidFill>
                            <a:srgbClr val="534AB7"/>
                          </a:solidFill>
                          <a:latin typeface="Calibri"/>
                          <a:ea typeface="Calibri"/>
                          <a:cs typeface="Calibri"/>
                          <a:sym typeface="Calibri"/>
                        </a:rPr>
                        <a:t>491K (0.08%)</a:t>
                      </a:r>
                      <a:endParaRPr sz="1300" u="none" cap="none" strike="noStrike">
                        <a:solidFill>
                          <a:srgbClr val="534AB7"/>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marR="0" rtl="0" algn="ctr">
                        <a:spcBef>
                          <a:spcPts val="0"/>
                        </a:spcBef>
                        <a:spcAft>
                          <a:spcPts val="0"/>
                        </a:spcAft>
                        <a:buClr>
                          <a:srgbClr val="64748B"/>
                        </a:buClr>
                        <a:buSzPts val="1300"/>
                        <a:buFont typeface="Calibri"/>
                        <a:buNone/>
                      </a:pPr>
                      <a:r>
                        <a:rPr lang="en-US" sz="1300">
                          <a:solidFill>
                            <a:srgbClr val="534AB7"/>
                          </a:solidFill>
                          <a:latin typeface="Calibri"/>
                          <a:ea typeface="Calibri"/>
                          <a:cs typeface="Calibri"/>
                          <a:sym typeface="Calibri"/>
                        </a:rPr>
                        <a:t>30.55</a:t>
                      </a:r>
                      <a:endParaRPr sz="1300" u="none" cap="none" strike="noStrike">
                        <a:solidFill>
                          <a:srgbClr val="534AB7"/>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marR="0" rtl="0" algn="ctr">
                        <a:spcBef>
                          <a:spcPts val="0"/>
                        </a:spcBef>
                        <a:spcAft>
                          <a:spcPts val="0"/>
                        </a:spcAft>
                        <a:buClr>
                          <a:srgbClr val="64748B"/>
                        </a:buClr>
                        <a:buSzPts val="1300"/>
                        <a:buFont typeface="Calibri"/>
                        <a:buNone/>
                      </a:pPr>
                      <a:r>
                        <a:rPr lang="en-US" sz="1300">
                          <a:solidFill>
                            <a:srgbClr val="534AB7"/>
                          </a:solidFill>
                          <a:latin typeface="Calibri"/>
                          <a:ea typeface="Calibri"/>
                          <a:cs typeface="Calibri"/>
                          <a:sym typeface="Calibri"/>
                        </a:rPr>
                        <a:t>0.828</a:t>
                      </a:r>
                      <a:endParaRPr sz="1300" u="none" cap="none" strike="noStrike">
                        <a:solidFill>
                          <a:srgbClr val="534AB7"/>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c>
                  <a:txBody>
                    <a:bodyPr/>
                    <a:lstStyle/>
                    <a:p>
                      <a:pPr indent="0" lvl="0" marL="0" marR="0" rtl="0" algn="ctr">
                        <a:spcBef>
                          <a:spcPts val="0"/>
                        </a:spcBef>
                        <a:spcAft>
                          <a:spcPts val="0"/>
                        </a:spcAft>
                        <a:buClr>
                          <a:srgbClr val="64748B"/>
                        </a:buClr>
                        <a:buSzPts val="1300"/>
                        <a:buFont typeface="Calibri"/>
                        <a:buNone/>
                      </a:pPr>
                      <a:r>
                        <a:rPr lang="en-US" sz="1300">
                          <a:solidFill>
                            <a:srgbClr val="534AB7"/>
                          </a:solidFill>
                          <a:latin typeface="Calibri"/>
                          <a:ea typeface="Calibri"/>
                          <a:cs typeface="Calibri"/>
                          <a:sym typeface="Calibri"/>
                        </a:rPr>
                        <a:t>56.98</a:t>
                      </a:r>
                      <a:endParaRPr sz="1300" u="none" cap="none" strike="noStrike">
                        <a:solidFill>
                          <a:srgbClr val="534AB7"/>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EEDFE"/>
                    </a:solidFill>
                  </a:tcPr>
                </a:tc>
              </a:tr>
              <a:tr h="532350">
                <a:tc>
                  <a:txBody>
                    <a:bodyPr/>
                    <a:lstStyle/>
                    <a:p>
                      <a:pPr indent="0" lvl="0" marL="0" marR="0" rtl="0" algn="ctr">
                        <a:spcBef>
                          <a:spcPts val="0"/>
                        </a:spcBef>
                        <a:spcAft>
                          <a:spcPts val="0"/>
                        </a:spcAft>
                        <a:buClr>
                          <a:srgbClr val="712B13"/>
                        </a:buClr>
                        <a:buSzPts val="1300"/>
                        <a:buFont typeface="Calibri"/>
                        <a:buNone/>
                      </a:pPr>
                      <a:r>
                        <a:rPr b="1" lang="en-US" sz="1300" u="none" cap="none" strike="noStrike">
                          <a:solidFill>
                            <a:srgbClr val="712B13"/>
                          </a:solidFill>
                          <a:latin typeface="Calibri"/>
                          <a:ea typeface="Calibri"/>
                          <a:cs typeface="Calibri"/>
                          <a:sym typeface="Calibri"/>
                        </a:rPr>
                        <a:t>Full fine-tuning</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AECE7"/>
                    </a:solidFill>
                  </a:tcPr>
                </a:tc>
                <a:tc>
                  <a:txBody>
                    <a:bodyPr/>
                    <a:lstStyle/>
                    <a:p>
                      <a:pPr indent="0" lvl="0" marL="0" marR="0" rtl="0" algn="ctr">
                        <a:spcBef>
                          <a:spcPts val="0"/>
                        </a:spcBef>
                        <a:spcAft>
                          <a:spcPts val="0"/>
                        </a:spcAft>
                        <a:buClr>
                          <a:srgbClr val="D85A30"/>
                        </a:buClr>
                        <a:buSzPts val="1300"/>
                        <a:buFont typeface="Calibri"/>
                        <a:buNone/>
                      </a:pPr>
                      <a:r>
                        <a:rPr lang="en-US" sz="1300" u="none" cap="none" strike="noStrike">
                          <a:solidFill>
                            <a:srgbClr val="D85A30"/>
                          </a:solidFill>
                          <a:latin typeface="Calibri"/>
                          <a:ea typeface="Calibri"/>
                          <a:cs typeface="Calibri"/>
                          <a:sym typeface="Calibri"/>
                        </a:rPr>
                        <a:t>600M (100%)</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AECE7"/>
                    </a:solidFill>
                  </a:tcPr>
                </a:tc>
                <a:tc>
                  <a:txBody>
                    <a:bodyPr/>
                    <a:lstStyle/>
                    <a:p>
                      <a:pPr indent="0" lvl="0" marL="0" marR="0" rtl="0" algn="ctr">
                        <a:spcBef>
                          <a:spcPts val="0"/>
                        </a:spcBef>
                        <a:spcAft>
                          <a:spcPts val="0"/>
                        </a:spcAft>
                        <a:buClr>
                          <a:srgbClr val="D85A30"/>
                        </a:buClr>
                        <a:buSzPts val="1300"/>
                        <a:buFont typeface="Calibri"/>
                        <a:buNone/>
                      </a:pPr>
                      <a:r>
                        <a:rPr lang="en-US" sz="1300" u="none" cap="none" strike="noStrike">
                          <a:solidFill>
                            <a:srgbClr val="D85A30"/>
                          </a:solidFill>
                          <a:latin typeface="Calibri"/>
                          <a:ea typeface="Calibri"/>
                          <a:cs typeface="Calibri"/>
                          <a:sym typeface="Calibri"/>
                        </a:rPr>
                        <a:t>31.15</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AECE7"/>
                    </a:solidFill>
                  </a:tcPr>
                </a:tc>
                <a:tc>
                  <a:txBody>
                    <a:bodyPr/>
                    <a:lstStyle/>
                    <a:p>
                      <a:pPr indent="0" lvl="0" marL="0" marR="0" rtl="0" algn="ctr">
                        <a:spcBef>
                          <a:spcPts val="0"/>
                        </a:spcBef>
                        <a:spcAft>
                          <a:spcPts val="0"/>
                        </a:spcAft>
                        <a:buClr>
                          <a:srgbClr val="D85A30"/>
                        </a:buClr>
                        <a:buSzPts val="1300"/>
                        <a:buFont typeface="Calibri"/>
                        <a:buNone/>
                      </a:pPr>
                      <a:r>
                        <a:rPr b="1" lang="en-US" sz="1300" u="none" cap="none" strike="noStrike">
                          <a:solidFill>
                            <a:srgbClr val="D85A30"/>
                          </a:solidFill>
                          <a:latin typeface="Calibri"/>
                          <a:ea typeface="Calibri"/>
                          <a:cs typeface="Calibri"/>
                          <a:sym typeface="Calibri"/>
                        </a:rPr>
                        <a:t>0.833</a:t>
                      </a:r>
                      <a:endParaRPr b="1" sz="1300" u="none" cap="none" strike="noStrike">
                        <a:solidFill>
                          <a:srgbClr val="D85A30"/>
                        </a:solidFill>
                        <a:latin typeface="Calibri"/>
                        <a:ea typeface="Calibri"/>
                        <a:cs typeface="Calibri"/>
                        <a:sym typeface="Calibri"/>
                      </a:endParaRPr>
                    </a:p>
                    <a:p>
                      <a:pPr indent="0" lvl="0" marL="0" marR="0" rtl="0" algn="ctr">
                        <a:spcBef>
                          <a:spcPts val="0"/>
                        </a:spcBef>
                        <a:spcAft>
                          <a:spcPts val="0"/>
                        </a:spcAft>
                        <a:buClr>
                          <a:srgbClr val="D85A30"/>
                        </a:buClr>
                        <a:buSzPts val="1300"/>
                        <a:buFont typeface="Calibri"/>
                        <a:buNone/>
                      </a:pPr>
                      <a:r>
                        <a:rPr b="1" lang="en-US" sz="900">
                          <a:solidFill>
                            <a:srgbClr val="6AA84F"/>
                          </a:solidFill>
                          <a:latin typeface="Calibri"/>
                          <a:ea typeface="Calibri"/>
                          <a:cs typeface="Calibri"/>
                          <a:sym typeface="Calibri"/>
                        </a:rPr>
                        <a:t>best COMET</a:t>
                      </a:r>
                      <a:endParaRPr b="1" sz="900">
                        <a:solidFill>
                          <a:srgbClr val="6AA84F"/>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AECE7"/>
                    </a:solidFill>
                  </a:tcPr>
                </a:tc>
                <a:tc>
                  <a:txBody>
                    <a:bodyPr/>
                    <a:lstStyle/>
                    <a:p>
                      <a:pPr indent="0" lvl="0" marL="0" marR="0" rtl="0" algn="ctr">
                        <a:spcBef>
                          <a:spcPts val="0"/>
                        </a:spcBef>
                        <a:spcAft>
                          <a:spcPts val="0"/>
                        </a:spcAft>
                        <a:buClr>
                          <a:srgbClr val="D85A30"/>
                        </a:buClr>
                        <a:buSzPts val="1300"/>
                        <a:buFont typeface="Calibri"/>
                        <a:buNone/>
                      </a:pPr>
                      <a:r>
                        <a:rPr lang="en-US" sz="1300" u="none" cap="none" strike="noStrike">
                          <a:solidFill>
                            <a:srgbClr val="D85A30"/>
                          </a:solidFill>
                          <a:latin typeface="Calibri"/>
                          <a:ea typeface="Calibri"/>
                          <a:cs typeface="Calibri"/>
                          <a:sym typeface="Calibri"/>
                        </a:rPr>
                        <a:t>57.47</a:t>
                      </a:r>
                      <a:endParaRPr b="1" sz="1300" u="none" cap="none" strike="noStrike">
                        <a:solidFill>
                          <a:srgbClr val="D85A30"/>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AECE7"/>
                    </a:solidFill>
                  </a:tcPr>
                </a:tc>
              </a:tr>
            </a:tbl>
          </a:graphicData>
        </a:graphic>
      </p:graphicFrame>
      <p:sp>
        <p:nvSpPr>
          <p:cNvPr id="65" name="Google Shape;65;p6"/>
          <p:cNvSpPr txBox="1"/>
          <p:nvPr/>
        </p:nvSpPr>
        <p:spPr>
          <a:xfrm>
            <a:off x="967350" y="4431625"/>
            <a:ext cx="7209300" cy="5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solidFill>
                  <a:srgbClr val="1E2761"/>
                </a:solidFill>
              </a:rPr>
              <a:t>PEFT methods </a:t>
            </a:r>
            <a:r>
              <a:rPr lang="en-US">
                <a:solidFill>
                  <a:srgbClr val="1E2761"/>
                </a:solidFill>
              </a:rPr>
              <a:t>match</a:t>
            </a:r>
            <a:r>
              <a:rPr lang="en-US">
                <a:solidFill>
                  <a:srgbClr val="1E2761"/>
                </a:solidFill>
              </a:rPr>
              <a:t> full fine-tuning with </a:t>
            </a:r>
            <a:r>
              <a:rPr b="1" lang="en-US">
                <a:solidFill>
                  <a:srgbClr val="1E2761"/>
                </a:solidFill>
              </a:rPr>
              <a:t>&lt;0.2% of parameters</a:t>
            </a:r>
            <a:endParaRPr>
              <a:solidFill>
                <a:srgbClr val="1E2761"/>
              </a:solidFill>
            </a:endParaRPr>
          </a:p>
          <a:p>
            <a:pPr indent="0" lvl="0" marL="0" rtl="0" algn="ctr">
              <a:spcBef>
                <a:spcPts val="0"/>
              </a:spcBef>
              <a:spcAft>
                <a:spcPts val="0"/>
              </a:spcAft>
              <a:buNone/>
            </a:pPr>
            <a:r>
              <a:rPr lang="en-US">
                <a:solidFill>
                  <a:srgbClr val="1E2761"/>
                </a:solidFill>
              </a:rPr>
              <a:t>slightly exceeded in some cases</a:t>
            </a:r>
            <a:endParaRPr>
              <a:solidFill>
                <a:srgbClr val="1E276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7"/>
          <p:cNvSpPr/>
          <p:nvPr/>
        </p:nvSpPr>
        <p:spPr>
          <a:xfrm>
            <a:off x="457200" y="22860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LoRA Fine-tuning</a:t>
            </a:r>
            <a:endParaRPr b="0" i="0" sz="2800" u="none" cap="none" strike="noStrike">
              <a:solidFill>
                <a:schemeClr val="dk1"/>
              </a:solidFill>
              <a:latin typeface="Calibri"/>
              <a:ea typeface="Calibri"/>
              <a:cs typeface="Calibri"/>
              <a:sym typeface="Calibri"/>
            </a:endParaRPr>
          </a:p>
        </p:txBody>
      </p:sp>
      <p:sp>
        <p:nvSpPr>
          <p:cNvPr id="72" name="Google Shape;72;p7"/>
          <p:cNvSpPr/>
          <p:nvPr/>
        </p:nvSpPr>
        <p:spPr>
          <a:xfrm>
            <a:off x="457200" y="914400"/>
            <a:ext cx="8229600" cy="1828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457200" y="228600"/>
            <a:ext cx="73152" cy="64008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p:nvPr/>
        </p:nvSpPr>
        <p:spPr>
          <a:xfrm>
            <a:off x="517726" y="2541056"/>
            <a:ext cx="3609300" cy="539400"/>
          </a:xfrm>
          <a:prstGeom prst="rect">
            <a:avLst/>
          </a:prstGeom>
          <a:solidFill>
            <a:srgbClr val="F3F4F6"/>
          </a:solidFill>
          <a:ln cap="flat" cmpd="sng" w="9050">
            <a:solidFill>
              <a:srgbClr val="E5E7EB"/>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75" name="Google Shape;75;p7"/>
          <p:cNvSpPr/>
          <p:nvPr/>
        </p:nvSpPr>
        <p:spPr>
          <a:xfrm>
            <a:off x="517726" y="1120956"/>
            <a:ext cx="3609300" cy="243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34AB7"/>
              </a:buClr>
              <a:buSzPts val="856"/>
              <a:buFont typeface="Calibri"/>
              <a:buNone/>
            </a:pPr>
            <a:r>
              <a:rPr b="1" i="0" lang="en-US" sz="856" u="none" cap="none" strike="noStrike">
                <a:solidFill>
                  <a:srgbClr val="534AB7"/>
                </a:solidFill>
                <a:latin typeface="Calibri"/>
                <a:ea typeface="Calibri"/>
                <a:cs typeface="Calibri"/>
                <a:sym typeface="Calibri"/>
              </a:rPr>
              <a:t>METHOD</a:t>
            </a:r>
            <a:endParaRPr b="0" i="0" sz="856" u="none" cap="none" strike="noStrike">
              <a:solidFill>
                <a:srgbClr val="000000"/>
              </a:solidFill>
              <a:latin typeface="Calibri"/>
              <a:ea typeface="Calibri"/>
              <a:cs typeface="Calibri"/>
              <a:sym typeface="Calibri"/>
            </a:endParaRPr>
          </a:p>
        </p:txBody>
      </p:sp>
      <p:sp>
        <p:nvSpPr>
          <p:cNvPr id="76" name="Google Shape;76;p7"/>
          <p:cNvSpPr/>
          <p:nvPr/>
        </p:nvSpPr>
        <p:spPr>
          <a:xfrm>
            <a:off x="517725" y="1440831"/>
            <a:ext cx="3391800" cy="9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236"/>
              <a:buFont typeface="Calibri"/>
              <a:buNone/>
            </a:pPr>
            <a:r>
              <a:rPr b="0" i="0" lang="en-US" sz="1236" u="none" cap="none" strike="noStrike">
                <a:solidFill>
                  <a:srgbClr val="374151"/>
                </a:solidFill>
                <a:latin typeface="Calibri"/>
                <a:ea typeface="Calibri"/>
                <a:cs typeface="Calibri"/>
                <a:sym typeface="Calibri"/>
              </a:rPr>
              <a:t>Pretrained weights stay </a:t>
            </a:r>
            <a:r>
              <a:rPr b="0" i="0" lang="en-US" sz="1236" u="none" cap="none" strike="noStrike">
                <a:solidFill>
                  <a:srgbClr val="1155CC"/>
                </a:solidFill>
                <a:latin typeface="Calibri"/>
                <a:ea typeface="Calibri"/>
                <a:cs typeface="Calibri"/>
                <a:sym typeface="Calibri"/>
              </a:rPr>
              <a:t>frozen</a:t>
            </a:r>
            <a:r>
              <a:rPr b="0" i="0" lang="en-US" sz="1236" u="none" cap="none" strike="noStrike">
                <a:solidFill>
                  <a:srgbClr val="374151"/>
                </a:solidFill>
                <a:latin typeface="Calibri"/>
                <a:ea typeface="Calibri"/>
                <a:cs typeface="Calibri"/>
                <a:sym typeface="Calibri"/>
              </a:rPr>
              <a:t>. Two small decomposed </a:t>
            </a:r>
            <a:r>
              <a:rPr b="0" i="0" lang="en-US" sz="1236" u="none" cap="none" strike="noStrike">
                <a:solidFill>
                  <a:srgbClr val="B45F06"/>
                </a:solidFill>
                <a:latin typeface="Calibri"/>
                <a:ea typeface="Calibri"/>
                <a:cs typeface="Calibri"/>
                <a:sym typeface="Calibri"/>
              </a:rPr>
              <a:t>matrices</a:t>
            </a:r>
            <a:r>
              <a:rPr b="0" i="0" lang="en-US" sz="1236" u="none" cap="none" strike="noStrike">
                <a:solidFill>
                  <a:srgbClr val="374151"/>
                </a:solidFill>
                <a:latin typeface="Calibri"/>
                <a:ea typeface="Calibri"/>
                <a:cs typeface="Calibri"/>
                <a:sym typeface="Calibri"/>
              </a:rPr>
              <a:t> A and B are injected </a:t>
            </a:r>
            <a:r>
              <a:rPr lang="en-US" sz="1236">
                <a:solidFill>
                  <a:srgbClr val="374151"/>
                </a:solidFill>
                <a:latin typeface="Calibri"/>
                <a:ea typeface="Calibri"/>
                <a:cs typeface="Calibri"/>
                <a:sym typeface="Calibri"/>
              </a:rPr>
              <a:t>in</a:t>
            </a:r>
            <a:r>
              <a:rPr b="0" i="0" lang="en-US" sz="1236" u="none" cap="none" strike="noStrike">
                <a:solidFill>
                  <a:srgbClr val="374151"/>
                </a:solidFill>
                <a:latin typeface="Calibri"/>
                <a:ea typeface="Calibri"/>
                <a:cs typeface="Calibri"/>
                <a:sym typeface="Calibri"/>
              </a:rPr>
              <a:t> selected attention layers </a:t>
            </a:r>
            <a:r>
              <a:rPr lang="en-US" sz="1236">
                <a:solidFill>
                  <a:srgbClr val="374151"/>
                </a:solidFill>
                <a:latin typeface="Calibri"/>
                <a:ea typeface="Calibri"/>
                <a:cs typeface="Calibri"/>
                <a:sym typeface="Calibri"/>
              </a:rPr>
              <a:t>of the </a:t>
            </a:r>
            <a:r>
              <a:rPr lang="en-US" sz="1236">
                <a:solidFill>
                  <a:srgbClr val="374151"/>
                </a:solidFill>
                <a:latin typeface="Calibri"/>
                <a:ea typeface="Calibri"/>
                <a:cs typeface="Calibri"/>
                <a:sym typeface="Calibri"/>
              </a:rPr>
              <a:t>transformer’</a:t>
            </a:r>
            <a:r>
              <a:rPr lang="en-US" sz="1236">
                <a:solidFill>
                  <a:srgbClr val="374151"/>
                </a:solidFill>
                <a:latin typeface="Calibri"/>
                <a:ea typeface="Calibri"/>
                <a:cs typeface="Calibri"/>
                <a:sym typeface="Calibri"/>
              </a:rPr>
              <a:t>s architecture.</a:t>
            </a:r>
            <a:r>
              <a:rPr b="0" i="0" lang="en-US" sz="1236" u="none" cap="none" strike="noStrike">
                <a:solidFill>
                  <a:srgbClr val="374151"/>
                </a:solidFill>
                <a:latin typeface="Calibri"/>
                <a:ea typeface="Calibri"/>
                <a:cs typeface="Calibri"/>
                <a:sym typeface="Calibri"/>
              </a:rPr>
              <a:t> Only these are updated during training, then the</a:t>
            </a:r>
            <a:r>
              <a:rPr lang="en-US" sz="1236">
                <a:solidFill>
                  <a:srgbClr val="374151"/>
                </a:solidFill>
                <a:latin typeface="Calibri"/>
                <a:ea typeface="Calibri"/>
                <a:cs typeface="Calibri"/>
                <a:sym typeface="Calibri"/>
              </a:rPr>
              <a:t>y are </a:t>
            </a:r>
            <a:r>
              <a:rPr b="0" i="0" lang="en-US" sz="1236" u="none" cap="none" strike="noStrike">
                <a:solidFill>
                  <a:srgbClr val="374151"/>
                </a:solidFill>
                <a:latin typeface="Calibri"/>
                <a:ea typeface="Calibri"/>
                <a:cs typeface="Calibri"/>
                <a:sym typeface="Calibri"/>
              </a:rPr>
              <a:t>merged at inference t</a:t>
            </a:r>
            <a:r>
              <a:rPr lang="en-US" sz="1236">
                <a:solidFill>
                  <a:srgbClr val="374151"/>
                </a:solidFill>
                <a:latin typeface="Calibri"/>
                <a:ea typeface="Calibri"/>
                <a:cs typeface="Calibri"/>
                <a:sym typeface="Calibri"/>
              </a:rPr>
              <a:t>ime</a:t>
            </a:r>
            <a:r>
              <a:rPr b="0" i="0" lang="en-US" sz="1236" u="none" cap="none" strike="noStrike">
                <a:solidFill>
                  <a:srgbClr val="374151"/>
                </a:solidFill>
                <a:latin typeface="Calibri"/>
                <a:ea typeface="Calibri"/>
                <a:cs typeface="Calibri"/>
                <a:sym typeface="Calibri"/>
              </a:rPr>
              <a:t>.</a:t>
            </a:r>
            <a:endParaRPr b="0" i="0" sz="1236" u="none" cap="none" strike="noStrike">
              <a:solidFill>
                <a:srgbClr val="000000"/>
              </a:solidFill>
              <a:latin typeface="Calibri"/>
              <a:ea typeface="Calibri"/>
              <a:cs typeface="Calibri"/>
              <a:sym typeface="Calibri"/>
            </a:endParaRPr>
          </a:p>
        </p:txBody>
      </p:sp>
      <p:sp>
        <p:nvSpPr>
          <p:cNvPr id="77" name="Google Shape;77;p7"/>
          <p:cNvSpPr/>
          <p:nvPr/>
        </p:nvSpPr>
        <p:spPr>
          <a:xfrm>
            <a:off x="622092" y="2558451"/>
            <a:ext cx="3391800" cy="5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41"/>
              <a:buFont typeface="Consolas"/>
              <a:buNone/>
            </a:pPr>
            <a:r>
              <a:rPr b="0" i="0" lang="en-US" sz="1141" u="none" cap="none" strike="noStrike">
                <a:solidFill>
                  <a:srgbClr val="374151"/>
                </a:solidFill>
                <a:latin typeface="Consolas"/>
                <a:ea typeface="Consolas"/>
                <a:cs typeface="Consolas"/>
                <a:sym typeface="Consolas"/>
              </a:rPr>
              <a:t>ΔW = B × A     	rank </a:t>
            </a:r>
            <a:r>
              <a:rPr b="1" i="1" lang="en-US" sz="1141" u="none" cap="none" strike="noStrike">
                <a:solidFill>
                  <a:srgbClr val="374151"/>
                </a:solidFill>
                <a:latin typeface="Consolas"/>
                <a:ea typeface="Consolas"/>
                <a:cs typeface="Consolas"/>
                <a:sym typeface="Consolas"/>
              </a:rPr>
              <a:t>r</a:t>
            </a:r>
            <a:r>
              <a:rPr b="0" i="0" lang="en-US" sz="1141" u="none" cap="none" strike="noStrike">
                <a:solidFill>
                  <a:srgbClr val="374151"/>
                </a:solidFill>
                <a:latin typeface="Consolas"/>
                <a:ea typeface="Consolas"/>
                <a:cs typeface="Consolas"/>
                <a:sym typeface="Consolas"/>
              </a:rPr>
              <a:t> controls capacity</a:t>
            </a:r>
            <a:endParaRPr b="0" i="0" sz="1141" u="none" cap="none" strike="noStrike">
              <a:solidFill>
                <a:srgbClr val="374151"/>
              </a:solidFill>
              <a:latin typeface="Consolas"/>
              <a:ea typeface="Consolas"/>
              <a:cs typeface="Consolas"/>
              <a:sym typeface="Consolas"/>
            </a:endParaRPr>
          </a:p>
          <a:p>
            <a:pPr indent="0" lvl="0" marL="0" marR="0" rtl="0" algn="l">
              <a:spcBef>
                <a:spcPts val="0"/>
              </a:spcBef>
              <a:spcAft>
                <a:spcPts val="0"/>
              </a:spcAft>
              <a:buClr>
                <a:srgbClr val="374151"/>
              </a:buClr>
              <a:buSzPts val="1141"/>
              <a:buFont typeface="Consolas"/>
              <a:buNone/>
            </a:pPr>
            <a:r>
              <a:t/>
            </a:r>
            <a:endParaRPr sz="1141">
              <a:solidFill>
                <a:srgbClr val="374151"/>
              </a:solidFill>
              <a:latin typeface="Consolas"/>
              <a:ea typeface="Consolas"/>
              <a:cs typeface="Consolas"/>
              <a:sym typeface="Consolas"/>
            </a:endParaRPr>
          </a:p>
          <a:p>
            <a:pPr indent="0" lvl="0" marL="0" marR="0" rtl="0" algn="l">
              <a:spcBef>
                <a:spcPts val="0"/>
              </a:spcBef>
              <a:spcAft>
                <a:spcPts val="0"/>
              </a:spcAft>
              <a:buClr>
                <a:srgbClr val="374151"/>
              </a:buClr>
              <a:buSzPts val="1141"/>
              <a:buFont typeface="Consolas"/>
              <a:buNone/>
            </a:pPr>
            <a:r>
              <a:rPr lang="en-US" sz="1141">
                <a:solidFill>
                  <a:srgbClr val="374151"/>
                </a:solidFill>
                <a:latin typeface="Consolas"/>
                <a:ea typeface="Consolas"/>
                <a:cs typeface="Consolas"/>
                <a:sym typeface="Consolas"/>
              </a:rPr>
              <a:t>h = Wx + BAx</a:t>
            </a:r>
            <a:endParaRPr sz="1141">
              <a:solidFill>
                <a:srgbClr val="374151"/>
              </a:solidFill>
              <a:latin typeface="Consolas"/>
              <a:ea typeface="Consolas"/>
              <a:cs typeface="Consolas"/>
              <a:sym typeface="Consolas"/>
            </a:endParaRPr>
          </a:p>
        </p:txBody>
      </p:sp>
      <p:pic>
        <p:nvPicPr>
          <p:cNvPr id="78" name="Google Shape;78;p7" title="0*c-4GJSAP8WfDkxfm.gif"/>
          <p:cNvPicPr preferRelativeResize="0"/>
          <p:nvPr/>
        </p:nvPicPr>
        <p:blipFill>
          <a:blip r:embed="rId3">
            <a:alphaModFix/>
          </a:blip>
          <a:stretch>
            <a:fillRect/>
          </a:stretch>
        </p:blipFill>
        <p:spPr>
          <a:xfrm>
            <a:off x="4168950" y="978425"/>
            <a:ext cx="4485300" cy="3645475"/>
          </a:xfrm>
          <a:prstGeom prst="rect">
            <a:avLst/>
          </a:prstGeom>
          <a:noFill/>
          <a:ln>
            <a:noFill/>
          </a:ln>
        </p:spPr>
      </p:pic>
      <p:sp>
        <p:nvSpPr>
          <p:cNvPr id="79" name="Google Shape;79;p7"/>
          <p:cNvSpPr txBox="1"/>
          <p:nvPr/>
        </p:nvSpPr>
        <p:spPr>
          <a:xfrm>
            <a:off x="5324900" y="4570741"/>
            <a:ext cx="2943900" cy="2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600"/>
              <a:t>Fig 1: </a:t>
            </a:r>
            <a:r>
              <a:rPr lang="en-US" sz="600"/>
              <a:t>Medium.com</a:t>
            </a:r>
            <a:r>
              <a:rPr i="1" lang="en-US" sz="600"/>
              <a:t>, </a:t>
            </a:r>
            <a:r>
              <a:rPr i="1" lang="en-US" sz="600" u="sng">
                <a:solidFill>
                  <a:schemeClr val="hlink"/>
                </a:solidFill>
                <a:hlinkClick r:id="rId4"/>
              </a:rPr>
              <a:t>Understanding Low-Rank Adaptation (LoRA)</a:t>
            </a:r>
            <a:endParaRPr i="1" sz="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8"/>
          <p:cNvSpPr/>
          <p:nvPr/>
        </p:nvSpPr>
        <p:spPr>
          <a:xfrm>
            <a:off x="457200" y="228600"/>
            <a:ext cx="8229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LoRA </a:t>
            </a:r>
            <a:r>
              <a:rPr b="1" lang="en-US" sz="2800">
                <a:solidFill>
                  <a:srgbClr val="1E2761"/>
                </a:solidFill>
                <a:latin typeface="Calibri"/>
                <a:ea typeface="Calibri"/>
                <a:cs typeface="Calibri"/>
                <a:sym typeface="Calibri"/>
              </a:rPr>
              <a:t>Fine-tuning</a:t>
            </a:r>
            <a:endParaRPr b="1" sz="2800">
              <a:solidFill>
                <a:srgbClr val="1E2761"/>
              </a:solidFill>
              <a:latin typeface="Calibri"/>
              <a:ea typeface="Calibri"/>
              <a:cs typeface="Calibri"/>
              <a:sym typeface="Calibri"/>
            </a:endParaRPr>
          </a:p>
        </p:txBody>
      </p:sp>
      <p:sp>
        <p:nvSpPr>
          <p:cNvPr id="86" name="Google Shape;86;p8"/>
          <p:cNvSpPr/>
          <p:nvPr/>
        </p:nvSpPr>
        <p:spPr>
          <a:xfrm>
            <a:off x="457200" y="914400"/>
            <a:ext cx="8229600" cy="183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457200" y="228600"/>
            <a:ext cx="73200" cy="64020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457200" y="1384306"/>
            <a:ext cx="4006200" cy="1002000"/>
          </a:xfrm>
          <a:prstGeom prst="rect">
            <a:avLst/>
          </a:prstGeom>
          <a:solidFill>
            <a:srgbClr val="F5F3FF"/>
          </a:solidFill>
          <a:ln cap="flat" cmpd="sng" w="9050">
            <a:solidFill>
              <a:srgbClr val="E5E7EB"/>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89" name="Google Shape;89;p8"/>
          <p:cNvSpPr/>
          <p:nvPr/>
        </p:nvSpPr>
        <p:spPr>
          <a:xfrm>
            <a:off x="587665" y="1499257"/>
            <a:ext cx="3783300" cy="2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1046"/>
              <a:buFont typeface="Calibri"/>
              <a:buNone/>
            </a:pPr>
            <a:r>
              <a:rPr b="0" i="0" lang="en-US" sz="1046" u="none" cap="none" strike="noStrike">
                <a:solidFill>
                  <a:srgbClr val="6B7280"/>
                </a:solidFill>
                <a:latin typeface="Calibri"/>
                <a:ea typeface="Calibri"/>
                <a:cs typeface="Calibri"/>
                <a:sym typeface="Calibri"/>
              </a:rPr>
              <a:t>Trainable parameters (rank</a:t>
            </a:r>
            <a:r>
              <a:rPr lang="en-US" sz="1046">
                <a:solidFill>
                  <a:srgbClr val="6B7280"/>
                </a:solidFill>
                <a:latin typeface="Calibri"/>
                <a:ea typeface="Calibri"/>
                <a:cs typeface="Calibri"/>
                <a:sym typeface="Calibri"/>
              </a:rPr>
              <a:t>=</a:t>
            </a:r>
            <a:r>
              <a:rPr b="0" i="0" lang="en-US" sz="1046" u="none" cap="none" strike="noStrike">
                <a:solidFill>
                  <a:srgbClr val="6B7280"/>
                </a:solidFill>
                <a:latin typeface="Calibri"/>
                <a:ea typeface="Calibri"/>
                <a:cs typeface="Calibri"/>
                <a:sym typeface="Calibri"/>
              </a:rPr>
              <a:t>8)</a:t>
            </a:r>
            <a:endParaRPr b="0" i="0" sz="1046" u="none" cap="none" strike="noStrike">
              <a:solidFill>
                <a:srgbClr val="000000"/>
              </a:solidFill>
              <a:latin typeface="Calibri"/>
              <a:ea typeface="Calibri"/>
              <a:cs typeface="Calibri"/>
              <a:sym typeface="Calibri"/>
            </a:endParaRPr>
          </a:p>
        </p:txBody>
      </p:sp>
      <p:sp>
        <p:nvSpPr>
          <p:cNvPr id="90" name="Google Shape;90;p8"/>
          <p:cNvSpPr/>
          <p:nvPr/>
        </p:nvSpPr>
        <p:spPr>
          <a:xfrm>
            <a:off x="587665" y="1716687"/>
            <a:ext cx="3783300" cy="36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093"/>
              <a:buFont typeface="Calibri"/>
              <a:buNone/>
            </a:pPr>
            <a:r>
              <a:rPr b="1" i="0" lang="en-US" sz="2093" u="none" cap="none" strike="noStrike">
                <a:solidFill>
                  <a:srgbClr val="1A1A2E"/>
                </a:solidFill>
                <a:latin typeface="Calibri"/>
                <a:ea typeface="Calibri"/>
                <a:cs typeface="Calibri"/>
                <a:sym typeface="Calibri"/>
              </a:rPr>
              <a:t>1.18M  </a:t>
            </a:r>
            <a:r>
              <a:rPr b="0" i="0" lang="en-US" sz="1332" u="none" cap="none" strike="noStrike">
                <a:solidFill>
                  <a:srgbClr val="534AB7"/>
                </a:solidFill>
                <a:latin typeface="Calibri"/>
                <a:ea typeface="Calibri"/>
                <a:cs typeface="Calibri"/>
                <a:sym typeface="Calibri"/>
              </a:rPr>
              <a:t>0.19% of model</a:t>
            </a:r>
            <a:endParaRPr b="0" i="0" sz="2093" u="none" cap="none" strike="noStrike">
              <a:solidFill>
                <a:srgbClr val="000000"/>
              </a:solidFill>
              <a:latin typeface="Calibri"/>
              <a:ea typeface="Calibri"/>
              <a:cs typeface="Calibri"/>
              <a:sym typeface="Calibri"/>
            </a:endParaRPr>
          </a:p>
        </p:txBody>
      </p:sp>
      <p:sp>
        <p:nvSpPr>
          <p:cNvPr id="91" name="Google Shape;91;p8"/>
          <p:cNvSpPr/>
          <p:nvPr/>
        </p:nvSpPr>
        <p:spPr>
          <a:xfrm>
            <a:off x="4619975" y="1384418"/>
            <a:ext cx="1278600" cy="1002000"/>
          </a:xfrm>
          <a:prstGeom prst="rect">
            <a:avLst/>
          </a:prstGeom>
          <a:solidFill>
            <a:srgbClr val="F9F8FF"/>
          </a:solidFill>
          <a:ln cap="flat" cmpd="sng" w="9050">
            <a:solidFill>
              <a:srgbClr val="E5E7EB"/>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92" name="Google Shape;92;p8"/>
          <p:cNvSpPr/>
          <p:nvPr/>
        </p:nvSpPr>
        <p:spPr>
          <a:xfrm>
            <a:off x="4689560" y="1371807"/>
            <a:ext cx="1130400" cy="24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46"/>
              <a:buFont typeface="Calibri"/>
              <a:buNone/>
            </a:pPr>
            <a:r>
              <a:rPr b="0" i="0" lang="en-US" sz="1046" u="none" cap="none" strike="noStrike">
                <a:solidFill>
                  <a:srgbClr val="6B7280"/>
                </a:solidFill>
                <a:latin typeface="Calibri"/>
                <a:ea typeface="Calibri"/>
                <a:cs typeface="Calibri"/>
                <a:sym typeface="Calibri"/>
              </a:rPr>
              <a:t>BLEU</a:t>
            </a:r>
            <a:endParaRPr b="0" i="0" sz="1046" u="none" cap="none" strike="noStrike">
              <a:solidFill>
                <a:srgbClr val="000000"/>
              </a:solidFill>
              <a:latin typeface="Calibri"/>
              <a:ea typeface="Calibri"/>
              <a:cs typeface="Calibri"/>
              <a:sym typeface="Calibri"/>
            </a:endParaRPr>
          </a:p>
        </p:txBody>
      </p:sp>
      <p:sp>
        <p:nvSpPr>
          <p:cNvPr id="93" name="Google Shape;93;p8"/>
          <p:cNvSpPr/>
          <p:nvPr/>
        </p:nvSpPr>
        <p:spPr>
          <a:xfrm>
            <a:off x="4689560" y="1629692"/>
            <a:ext cx="1130400" cy="4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902"/>
              <a:buFont typeface="Calibri"/>
              <a:buNone/>
            </a:pPr>
            <a:r>
              <a:rPr b="1" i="0" lang="en-US" sz="1902" u="none" cap="none" strike="noStrike">
                <a:solidFill>
                  <a:srgbClr val="1A1A2E"/>
                </a:solidFill>
                <a:latin typeface="Calibri"/>
                <a:ea typeface="Calibri"/>
                <a:cs typeface="Calibri"/>
                <a:sym typeface="Calibri"/>
              </a:rPr>
              <a:t>31.70</a:t>
            </a:r>
            <a:endParaRPr b="0" i="0" sz="1902" u="none" cap="none" strike="noStrike">
              <a:solidFill>
                <a:srgbClr val="000000"/>
              </a:solidFill>
              <a:latin typeface="Calibri"/>
              <a:ea typeface="Calibri"/>
              <a:cs typeface="Calibri"/>
              <a:sym typeface="Calibri"/>
            </a:endParaRPr>
          </a:p>
        </p:txBody>
      </p:sp>
      <p:sp>
        <p:nvSpPr>
          <p:cNvPr id="94" name="Google Shape;94;p8"/>
          <p:cNvSpPr/>
          <p:nvPr/>
        </p:nvSpPr>
        <p:spPr>
          <a:xfrm>
            <a:off x="5985450" y="1384418"/>
            <a:ext cx="1278600" cy="1002000"/>
          </a:xfrm>
          <a:prstGeom prst="rect">
            <a:avLst/>
          </a:prstGeom>
          <a:solidFill>
            <a:srgbClr val="F9F8FF"/>
          </a:solidFill>
          <a:ln cap="flat" cmpd="sng" w="9050">
            <a:solidFill>
              <a:srgbClr val="E5E7EB"/>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95" name="Google Shape;95;p8"/>
          <p:cNvSpPr/>
          <p:nvPr/>
        </p:nvSpPr>
        <p:spPr>
          <a:xfrm>
            <a:off x="6055023" y="1385097"/>
            <a:ext cx="1130400" cy="24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46"/>
              <a:buFont typeface="Calibri"/>
              <a:buNone/>
            </a:pPr>
            <a:r>
              <a:rPr b="0" i="0" lang="en-US" sz="1046" u="none" cap="none" strike="noStrike">
                <a:solidFill>
                  <a:srgbClr val="6B7280"/>
                </a:solidFill>
                <a:latin typeface="Calibri"/>
                <a:ea typeface="Calibri"/>
                <a:cs typeface="Calibri"/>
                <a:sym typeface="Calibri"/>
              </a:rPr>
              <a:t>chrF</a:t>
            </a:r>
            <a:endParaRPr b="0" i="0" sz="1046" u="none" cap="none" strike="noStrike">
              <a:solidFill>
                <a:srgbClr val="000000"/>
              </a:solidFill>
              <a:latin typeface="Calibri"/>
              <a:ea typeface="Calibri"/>
              <a:cs typeface="Calibri"/>
              <a:sym typeface="Calibri"/>
            </a:endParaRPr>
          </a:p>
        </p:txBody>
      </p:sp>
      <p:sp>
        <p:nvSpPr>
          <p:cNvPr id="96" name="Google Shape;96;p8"/>
          <p:cNvSpPr/>
          <p:nvPr/>
        </p:nvSpPr>
        <p:spPr>
          <a:xfrm>
            <a:off x="6055023" y="1629692"/>
            <a:ext cx="1130400" cy="4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902"/>
              <a:buFont typeface="Calibri"/>
              <a:buNone/>
            </a:pPr>
            <a:r>
              <a:rPr b="1" i="0" lang="en-US" sz="1902" u="none" cap="none" strike="noStrike">
                <a:solidFill>
                  <a:srgbClr val="1A1A2E"/>
                </a:solidFill>
                <a:latin typeface="Calibri"/>
                <a:ea typeface="Calibri"/>
                <a:cs typeface="Calibri"/>
                <a:sym typeface="Calibri"/>
              </a:rPr>
              <a:t>57.82</a:t>
            </a:r>
            <a:endParaRPr b="0" i="0" sz="1902" u="none" cap="none" strike="noStrike">
              <a:solidFill>
                <a:srgbClr val="000000"/>
              </a:solidFill>
              <a:latin typeface="Calibri"/>
              <a:ea typeface="Calibri"/>
              <a:cs typeface="Calibri"/>
              <a:sym typeface="Calibri"/>
            </a:endParaRPr>
          </a:p>
        </p:txBody>
      </p:sp>
      <p:sp>
        <p:nvSpPr>
          <p:cNvPr id="97" name="Google Shape;97;p8"/>
          <p:cNvSpPr/>
          <p:nvPr/>
        </p:nvSpPr>
        <p:spPr>
          <a:xfrm>
            <a:off x="412228" y="2757926"/>
            <a:ext cx="2696100" cy="1739400"/>
          </a:xfrm>
          <a:prstGeom prst="rect">
            <a:avLst/>
          </a:prstGeom>
          <a:solidFill>
            <a:srgbClr val="FFFFFF"/>
          </a:solidFill>
          <a:ln cap="flat" cmpd="sng" w="9050">
            <a:solidFill>
              <a:srgbClr val="E5E7EB"/>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98" name="Google Shape;98;p8"/>
          <p:cNvSpPr/>
          <p:nvPr/>
        </p:nvSpPr>
        <p:spPr>
          <a:xfrm>
            <a:off x="412228" y="2757926"/>
            <a:ext cx="2696100" cy="60900"/>
          </a:xfrm>
          <a:prstGeom prst="rect">
            <a:avLst/>
          </a:prstGeom>
          <a:solidFill>
            <a:srgbClr val="534AB7"/>
          </a:solidFill>
          <a:ln cap="flat" cmpd="sng" w="12075">
            <a:solidFill>
              <a:srgbClr val="534AB7"/>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99" name="Google Shape;99;p8"/>
          <p:cNvSpPr/>
          <p:nvPr/>
        </p:nvSpPr>
        <p:spPr>
          <a:xfrm>
            <a:off x="542686" y="2888384"/>
            <a:ext cx="2452800" cy="38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41"/>
              <a:buFont typeface="Calibri"/>
              <a:buNone/>
            </a:pPr>
            <a:r>
              <a:rPr b="1" i="0" lang="en-US" sz="1141" u="none" cap="none" strike="noStrike">
                <a:solidFill>
                  <a:srgbClr val="1A1A2E"/>
                </a:solidFill>
                <a:latin typeface="Calibri"/>
                <a:ea typeface="Calibri"/>
                <a:cs typeface="Calibri"/>
                <a:sym typeface="Calibri"/>
              </a:rPr>
              <a:t>Learning rate</a:t>
            </a:r>
            <a:endParaRPr b="0" i="0" sz="1141" u="none" cap="none" strike="noStrike">
              <a:solidFill>
                <a:srgbClr val="000000"/>
              </a:solidFill>
              <a:latin typeface="Calibri"/>
              <a:ea typeface="Calibri"/>
              <a:cs typeface="Calibri"/>
              <a:sym typeface="Calibri"/>
            </a:endParaRPr>
          </a:p>
        </p:txBody>
      </p:sp>
      <p:sp>
        <p:nvSpPr>
          <p:cNvPr id="100" name="Google Shape;100;p8"/>
          <p:cNvSpPr/>
          <p:nvPr/>
        </p:nvSpPr>
        <p:spPr>
          <a:xfrm>
            <a:off x="542686" y="3305851"/>
            <a:ext cx="2452800" cy="10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900">
                <a:solidFill>
                  <a:srgbClr val="1A1C1F"/>
                </a:solidFill>
                <a:latin typeface="Consolas"/>
                <a:ea typeface="Consolas"/>
                <a:cs typeface="Consolas"/>
                <a:sym typeface="Consolas"/>
              </a:rPr>
              <a:t>LR </a:t>
            </a:r>
            <a:r>
              <a:rPr lang="en-US" sz="900">
                <a:solidFill>
                  <a:srgbClr val="1A1C1F"/>
                </a:solidFill>
                <a:latin typeface="Roboto Mono"/>
                <a:ea typeface="Roboto Mono"/>
                <a:cs typeface="Roboto Mono"/>
                <a:sym typeface="Roboto Mono"/>
              </a:rPr>
              <a:t>3e-4</a:t>
            </a:r>
            <a:r>
              <a:rPr lang="en-US" sz="900">
                <a:solidFill>
                  <a:srgbClr val="1A1C1F"/>
                </a:solidFill>
                <a:highlight>
                  <a:srgbClr val="FFFFFF"/>
                </a:highlight>
                <a:latin typeface="Roboto Mono"/>
                <a:ea typeface="Roboto Mono"/>
                <a:cs typeface="Roboto Mono"/>
                <a:sym typeface="Roboto Mono"/>
              </a:rPr>
              <a:t> </a:t>
            </a:r>
            <a:r>
              <a:rPr lang="en-US" sz="900">
                <a:solidFill>
                  <a:srgbClr val="1A1C1F"/>
                </a:solidFill>
                <a:highlight>
                  <a:srgbClr val="FFFFFF"/>
                </a:highlight>
              </a:rPr>
              <a:t>was best after 1 epoch, but worse after 3 epochs.</a:t>
            </a:r>
            <a:endParaRPr sz="900">
              <a:solidFill>
                <a:srgbClr val="3B4350"/>
              </a:solidFill>
            </a:endParaRPr>
          </a:p>
          <a:p>
            <a:pPr indent="0" lvl="0" marL="0" rtl="0" algn="l">
              <a:lnSpc>
                <a:spcPct val="115000"/>
              </a:lnSpc>
              <a:spcBef>
                <a:spcPts val="0"/>
              </a:spcBef>
              <a:spcAft>
                <a:spcPts val="0"/>
              </a:spcAft>
              <a:buClr>
                <a:schemeClr val="dk1"/>
              </a:buClr>
              <a:buSzPts val="1100"/>
              <a:buFont typeface="Arial"/>
              <a:buNone/>
            </a:pPr>
            <a:r>
              <a:t/>
            </a:r>
            <a:endParaRPr sz="900">
              <a:solidFill>
                <a:srgbClr val="3B4350"/>
              </a:solidFill>
            </a:endParaRPr>
          </a:p>
          <a:p>
            <a:pPr indent="0" lvl="0" marL="0" rtl="0" algn="l">
              <a:lnSpc>
                <a:spcPct val="115000"/>
              </a:lnSpc>
              <a:spcBef>
                <a:spcPts val="0"/>
              </a:spcBef>
              <a:spcAft>
                <a:spcPts val="0"/>
              </a:spcAft>
              <a:buClr>
                <a:schemeClr val="dk1"/>
              </a:buClr>
              <a:buSzPts val="1100"/>
              <a:buFont typeface="Arial"/>
              <a:buNone/>
            </a:pPr>
            <a:r>
              <a:rPr lang="en-US" sz="900">
                <a:solidFill>
                  <a:srgbClr val="1A1C1F"/>
                </a:solidFill>
                <a:highlight>
                  <a:srgbClr val="FFFFFF"/>
                </a:highlight>
              </a:rPr>
              <a:t>LoRA has fewer trainable parameters, so optimization behaves differently from full fine-tuning. </a:t>
            </a:r>
            <a:endParaRPr sz="900">
              <a:solidFill>
                <a:srgbClr val="4B5563"/>
              </a:solidFill>
              <a:latin typeface="Calibri"/>
              <a:ea typeface="Calibri"/>
              <a:cs typeface="Calibri"/>
              <a:sym typeface="Calibri"/>
            </a:endParaRPr>
          </a:p>
        </p:txBody>
      </p:sp>
      <p:sp>
        <p:nvSpPr>
          <p:cNvPr id="101" name="Google Shape;101;p8"/>
          <p:cNvSpPr/>
          <p:nvPr/>
        </p:nvSpPr>
        <p:spPr>
          <a:xfrm>
            <a:off x="3325796" y="2757926"/>
            <a:ext cx="2696100" cy="1739400"/>
          </a:xfrm>
          <a:prstGeom prst="rect">
            <a:avLst/>
          </a:prstGeom>
          <a:solidFill>
            <a:srgbClr val="FFFFFF"/>
          </a:solidFill>
          <a:ln cap="flat" cmpd="sng" w="9050">
            <a:solidFill>
              <a:srgbClr val="E5E7EB"/>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102" name="Google Shape;102;p8"/>
          <p:cNvSpPr/>
          <p:nvPr/>
        </p:nvSpPr>
        <p:spPr>
          <a:xfrm>
            <a:off x="3325796" y="2757926"/>
            <a:ext cx="2696100" cy="60900"/>
          </a:xfrm>
          <a:prstGeom prst="rect">
            <a:avLst/>
          </a:prstGeom>
          <a:solidFill>
            <a:srgbClr val="534AB7"/>
          </a:solidFill>
          <a:ln cap="flat" cmpd="sng" w="12075">
            <a:solidFill>
              <a:srgbClr val="534AB7"/>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103" name="Google Shape;103;p8"/>
          <p:cNvSpPr/>
          <p:nvPr/>
        </p:nvSpPr>
        <p:spPr>
          <a:xfrm>
            <a:off x="3456250" y="2888378"/>
            <a:ext cx="2452800" cy="243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41"/>
              <a:buFont typeface="Calibri"/>
              <a:buNone/>
            </a:pPr>
            <a:r>
              <a:rPr b="1" lang="en-US" sz="1141">
                <a:solidFill>
                  <a:srgbClr val="1A1A2E"/>
                </a:solidFill>
                <a:latin typeface="Calibri"/>
                <a:ea typeface="Calibri"/>
                <a:cs typeface="Calibri"/>
                <a:sym typeface="Calibri"/>
              </a:rPr>
              <a:t>LoRA </a:t>
            </a:r>
            <a:r>
              <a:rPr b="1" i="0" lang="en-US" sz="1141" u="none" cap="none" strike="noStrike">
                <a:solidFill>
                  <a:srgbClr val="1A1A2E"/>
                </a:solidFill>
                <a:latin typeface="Calibri"/>
                <a:ea typeface="Calibri"/>
                <a:cs typeface="Calibri"/>
                <a:sym typeface="Calibri"/>
              </a:rPr>
              <a:t>Rank </a:t>
            </a:r>
            <a:r>
              <a:rPr b="1" lang="en-US" sz="1141">
                <a:solidFill>
                  <a:srgbClr val="1A1A2E"/>
                </a:solidFill>
                <a:latin typeface="Calibri"/>
                <a:ea typeface="Calibri"/>
                <a:cs typeface="Calibri"/>
                <a:sym typeface="Calibri"/>
              </a:rPr>
              <a:t>vs.</a:t>
            </a:r>
            <a:r>
              <a:rPr b="1" i="0" lang="en-US" sz="1141" u="none" cap="none" strike="noStrike">
                <a:solidFill>
                  <a:srgbClr val="1A1A2E"/>
                </a:solidFill>
                <a:latin typeface="Calibri"/>
                <a:ea typeface="Calibri"/>
                <a:cs typeface="Calibri"/>
                <a:sym typeface="Calibri"/>
              </a:rPr>
              <a:t> alpha</a:t>
            </a:r>
            <a:endParaRPr b="1" i="0" sz="1141" u="none" cap="none" strike="noStrike">
              <a:solidFill>
                <a:srgbClr val="000000"/>
              </a:solidFill>
              <a:latin typeface="Calibri"/>
              <a:ea typeface="Calibri"/>
              <a:cs typeface="Calibri"/>
              <a:sym typeface="Calibri"/>
            </a:endParaRPr>
          </a:p>
        </p:txBody>
      </p:sp>
      <p:sp>
        <p:nvSpPr>
          <p:cNvPr id="104" name="Google Shape;104;p8"/>
          <p:cNvSpPr/>
          <p:nvPr/>
        </p:nvSpPr>
        <p:spPr>
          <a:xfrm>
            <a:off x="3456254" y="3305851"/>
            <a:ext cx="2452800" cy="10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900" u="sng">
                <a:solidFill>
                  <a:srgbClr val="1A1C1F"/>
                </a:solidFill>
                <a:highlight>
                  <a:srgbClr val="FFFFFF"/>
                </a:highlight>
              </a:rPr>
              <a:t>LoRA Rank</a:t>
            </a:r>
            <a:r>
              <a:rPr lang="en-US" sz="900">
                <a:solidFill>
                  <a:srgbClr val="1A1C1F"/>
                </a:solidFill>
                <a:highlight>
                  <a:srgbClr val="FFFFFF"/>
                </a:highlight>
              </a:rPr>
              <a:t> controls the </a:t>
            </a:r>
            <a:r>
              <a:rPr b="1" lang="en-US" sz="900">
                <a:solidFill>
                  <a:srgbClr val="1A1C1F"/>
                </a:solidFill>
                <a:highlight>
                  <a:srgbClr val="FFFFFF"/>
                </a:highlight>
              </a:rPr>
              <a:t>capacity</a:t>
            </a:r>
            <a:r>
              <a:rPr lang="en-US" sz="900">
                <a:solidFill>
                  <a:srgbClr val="1A1C1F"/>
                </a:solidFill>
                <a:highlight>
                  <a:srgbClr val="FFFFFF"/>
                </a:highlight>
              </a:rPr>
              <a:t> of the LoRA adapter by setting the </a:t>
            </a:r>
            <a:r>
              <a:rPr b="1" lang="en-US" sz="900">
                <a:solidFill>
                  <a:srgbClr val="1A1C1F"/>
                </a:solidFill>
                <a:highlight>
                  <a:srgbClr val="FFFFFF"/>
                </a:highlight>
              </a:rPr>
              <a:t>size</a:t>
            </a:r>
            <a:r>
              <a:rPr lang="en-US" sz="900">
                <a:solidFill>
                  <a:srgbClr val="1A1C1F"/>
                </a:solidFill>
                <a:highlight>
                  <a:srgbClr val="FFFFFF"/>
                </a:highlight>
              </a:rPr>
              <a:t> of the low-rank matrices. </a:t>
            </a:r>
            <a:endParaRPr sz="900">
              <a:solidFill>
                <a:srgbClr val="1A1C1F"/>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solidFill>
                <a:srgbClr val="1A1C1F"/>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sz="900" u="sng">
                <a:solidFill>
                  <a:srgbClr val="1A1C1F"/>
                </a:solidFill>
                <a:highlight>
                  <a:srgbClr val="FFFFFF"/>
                </a:highlight>
              </a:rPr>
              <a:t>Alpha</a:t>
            </a:r>
            <a:r>
              <a:rPr lang="en-US" sz="900">
                <a:solidFill>
                  <a:srgbClr val="1A1C1F"/>
                </a:solidFill>
                <a:highlight>
                  <a:srgbClr val="FFFFFF"/>
                </a:highlight>
              </a:rPr>
              <a:t> hyperparam. determines the </a:t>
            </a:r>
            <a:r>
              <a:rPr b="1" lang="en-US" sz="900">
                <a:solidFill>
                  <a:srgbClr val="1A1C1F"/>
                </a:solidFill>
                <a:highlight>
                  <a:srgbClr val="FFFFFF"/>
                </a:highlight>
              </a:rPr>
              <a:t>scaling</a:t>
            </a:r>
            <a:r>
              <a:rPr lang="en-US" sz="900">
                <a:solidFill>
                  <a:srgbClr val="1A1C1F"/>
                </a:solidFill>
                <a:highlight>
                  <a:srgbClr val="FFFFFF"/>
                </a:highlight>
              </a:rPr>
              <a:t> </a:t>
            </a:r>
            <a:r>
              <a:rPr b="1" lang="en-US" sz="900">
                <a:solidFill>
                  <a:srgbClr val="1A1C1F"/>
                </a:solidFill>
                <a:highlight>
                  <a:srgbClr val="FFFFFF"/>
                </a:highlight>
              </a:rPr>
              <a:t>factor </a:t>
            </a:r>
            <a:r>
              <a:rPr lang="en-US" sz="900">
                <a:solidFill>
                  <a:srgbClr val="1A1C1F"/>
                </a:solidFill>
              </a:rPr>
              <a:t>(the multiplier applied to weight changes): </a:t>
            </a:r>
            <a:r>
              <a:rPr lang="en-US" sz="900">
                <a:solidFill>
                  <a:srgbClr val="1A1C1F"/>
                </a:solidFill>
                <a:highlight>
                  <a:srgbClr val="FFFFFF"/>
                </a:highlight>
              </a:rPr>
              <a:t> </a:t>
            </a:r>
            <a:r>
              <a:rPr i="1" lang="en-US" sz="900">
                <a:solidFill>
                  <a:srgbClr val="1A1C1F"/>
                </a:solidFill>
                <a:latin typeface="Consolas"/>
                <a:ea typeface="Consolas"/>
                <a:cs typeface="Consolas"/>
                <a:sym typeface="Consolas"/>
              </a:rPr>
              <a:t>alpha/r</a:t>
            </a:r>
            <a:r>
              <a:rPr i="1" lang="en-US" sz="900">
                <a:solidFill>
                  <a:srgbClr val="1A1C1F"/>
                </a:solidFill>
              </a:rPr>
              <a:t> </a:t>
            </a:r>
            <a:r>
              <a:rPr lang="en-US" sz="900">
                <a:solidFill>
                  <a:srgbClr val="1A1C1F"/>
                </a:solidFill>
              </a:rPr>
              <a:t> </a:t>
            </a:r>
            <a:endParaRPr sz="900">
              <a:solidFill>
                <a:srgbClr val="4B5563"/>
              </a:solidFill>
            </a:endParaRPr>
          </a:p>
        </p:txBody>
      </p:sp>
      <p:sp>
        <p:nvSpPr>
          <p:cNvPr id="105" name="Google Shape;105;p8"/>
          <p:cNvSpPr/>
          <p:nvPr/>
        </p:nvSpPr>
        <p:spPr>
          <a:xfrm>
            <a:off x="6239364" y="2757926"/>
            <a:ext cx="2696100" cy="1739400"/>
          </a:xfrm>
          <a:prstGeom prst="rect">
            <a:avLst/>
          </a:prstGeom>
          <a:solidFill>
            <a:srgbClr val="FFFFFF"/>
          </a:solidFill>
          <a:ln cap="flat" cmpd="sng" w="9050">
            <a:solidFill>
              <a:srgbClr val="E5E7EB"/>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106" name="Google Shape;106;p8"/>
          <p:cNvSpPr/>
          <p:nvPr/>
        </p:nvSpPr>
        <p:spPr>
          <a:xfrm>
            <a:off x="6239364" y="2757926"/>
            <a:ext cx="2696100" cy="60900"/>
          </a:xfrm>
          <a:prstGeom prst="rect">
            <a:avLst/>
          </a:prstGeom>
          <a:solidFill>
            <a:srgbClr val="534AB7"/>
          </a:solidFill>
          <a:ln cap="flat" cmpd="sng" w="12075">
            <a:solidFill>
              <a:srgbClr val="534AB7"/>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107" name="Google Shape;107;p8"/>
          <p:cNvSpPr/>
          <p:nvPr/>
        </p:nvSpPr>
        <p:spPr>
          <a:xfrm>
            <a:off x="6369823" y="2888384"/>
            <a:ext cx="2452800" cy="38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41"/>
              <a:buFont typeface="Calibri"/>
              <a:buNone/>
            </a:pPr>
            <a:r>
              <a:rPr b="1" i="0" lang="en-US" sz="1141" u="none" cap="none" strike="noStrike">
                <a:solidFill>
                  <a:srgbClr val="1A1A2E"/>
                </a:solidFill>
                <a:latin typeface="Calibri"/>
                <a:ea typeface="Calibri"/>
                <a:cs typeface="Calibri"/>
                <a:sym typeface="Calibri"/>
              </a:rPr>
              <a:t>BLEU vs COMET </a:t>
            </a:r>
            <a:endParaRPr b="0" i="0" sz="1141" u="none" cap="none" strike="noStrike">
              <a:solidFill>
                <a:srgbClr val="000000"/>
              </a:solidFill>
              <a:latin typeface="Calibri"/>
              <a:ea typeface="Calibri"/>
              <a:cs typeface="Calibri"/>
              <a:sym typeface="Calibri"/>
            </a:endParaRPr>
          </a:p>
        </p:txBody>
      </p:sp>
      <p:sp>
        <p:nvSpPr>
          <p:cNvPr id="108" name="Google Shape;108;p8"/>
          <p:cNvSpPr/>
          <p:nvPr/>
        </p:nvSpPr>
        <p:spPr>
          <a:xfrm>
            <a:off x="6369823" y="3305851"/>
            <a:ext cx="2452800" cy="10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900">
                <a:solidFill>
                  <a:srgbClr val="3B4350"/>
                </a:solidFill>
              </a:rPr>
              <a:t>The best BLEU checkpoint was </a:t>
            </a:r>
            <a:r>
              <a:rPr lang="en-US" sz="900" u="sng">
                <a:solidFill>
                  <a:srgbClr val="3B4350"/>
                </a:solidFill>
              </a:rPr>
              <a:t>not</a:t>
            </a:r>
            <a:r>
              <a:rPr lang="en-US" sz="900">
                <a:solidFill>
                  <a:srgbClr val="3B4350"/>
                </a:solidFill>
              </a:rPr>
              <a:t> the best COMET checkpoint, suggesting </a:t>
            </a:r>
            <a:r>
              <a:rPr b="1" lang="en-US" sz="900">
                <a:solidFill>
                  <a:srgbClr val="3B4350"/>
                </a:solidFill>
              </a:rPr>
              <a:t>lexical</a:t>
            </a:r>
            <a:r>
              <a:rPr lang="en-US" sz="900">
                <a:solidFill>
                  <a:srgbClr val="3B4350"/>
                </a:solidFill>
              </a:rPr>
              <a:t> quality and </a:t>
            </a:r>
            <a:r>
              <a:rPr b="1" lang="en-US" sz="900">
                <a:solidFill>
                  <a:srgbClr val="3B4350"/>
                </a:solidFill>
              </a:rPr>
              <a:t>semantic</a:t>
            </a:r>
            <a:r>
              <a:rPr lang="en-US" sz="900">
                <a:solidFill>
                  <a:srgbClr val="3B4350"/>
                </a:solidFill>
              </a:rPr>
              <a:t> quality peaked at different points.</a:t>
            </a:r>
            <a:endParaRPr sz="900">
              <a:solidFill>
                <a:srgbClr val="3B4350"/>
              </a:solidFill>
            </a:endParaRPr>
          </a:p>
          <a:p>
            <a:pPr indent="0" lvl="0" marL="0" marR="0" rtl="0" algn="l">
              <a:spcBef>
                <a:spcPts val="0"/>
              </a:spcBef>
              <a:spcAft>
                <a:spcPts val="0"/>
              </a:spcAft>
              <a:buClr>
                <a:srgbClr val="4B5563"/>
              </a:buClr>
              <a:buSzPts val="1141"/>
              <a:buFont typeface="Calibri"/>
              <a:buNone/>
            </a:pPr>
            <a:r>
              <a:t/>
            </a:r>
            <a:endParaRPr sz="900">
              <a:solidFill>
                <a:srgbClr val="4B5563"/>
              </a:solidFill>
              <a:latin typeface="Calibri"/>
              <a:ea typeface="Calibri"/>
              <a:cs typeface="Calibri"/>
              <a:sym typeface="Calibri"/>
            </a:endParaRPr>
          </a:p>
        </p:txBody>
      </p:sp>
      <p:sp>
        <p:nvSpPr>
          <p:cNvPr id="109" name="Google Shape;109;p8"/>
          <p:cNvSpPr/>
          <p:nvPr/>
        </p:nvSpPr>
        <p:spPr>
          <a:xfrm>
            <a:off x="7350925" y="1384343"/>
            <a:ext cx="1278600" cy="1002000"/>
          </a:xfrm>
          <a:prstGeom prst="rect">
            <a:avLst/>
          </a:prstGeom>
          <a:solidFill>
            <a:srgbClr val="F9F8FF"/>
          </a:solidFill>
          <a:ln cap="flat" cmpd="sng" w="9050">
            <a:solidFill>
              <a:srgbClr val="E5E7EB"/>
            </a:solidFill>
            <a:prstDash val="solid"/>
            <a:round/>
            <a:headEnd len="sm" w="sm" type="none"/>
            <a:tailEnd len="sm" w="sm" type="none"/>
          </a:ln>
        </p:spPr>
        <p:txBody>
          <a:bodyPr anchorCtr="0" anchor="ctr" bIns="86950" lIns="86950" spcFirstLastPara="1" rIns="86950" wrap="square" tIns="86950">
            <a:noAutofit/>
          </a:bodyPr>
          <a:lstStyle/>
          <a:p>
            <a:pPr indent="0" lvl="0" marL="0" rtl="0" algn="l">
              <a:spcBef>
                <a:spcPts val="0"/>
              </a:spcBef>
              <a:spcAft>
                <a:spcPts val="0"/>
              </a:spcAft>
              <a:buNone/>
            </a:pPr>
            <a:r>
              <a:t/>
            </a:r>
            <a:endParaRPr/>
          </a:p>
        </p:txBody>
      </p:sp>
      <p:sp>
        <p:nvSpPr>
          <p:cNvPr id="110" name="Google Shape;110;p8"/>
          <p:cNvSpPr/>
          <p:nvPr/>
        </p:nvSpPr>
        <p:spPr>
          <a:xfrm>
            <a:off x="7420498" y="1385022"/>
            <a:ext cx="1130400" cy="24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46"/>
              <a:buFont typeface="Calibri"/>
              <a:buNone/>
            </a:pPr>
            <a:r>
              <a:rPr lang="en-US" sz="1046">
                <a:solidFill>
                  <a:srgbClr val="6B7280"/>
                </a:solidFill>
                <a:latin typeface="Calibri"/>
                <a:ea typeface="Calibri"/>
                <a:cs typeface="Calibri"/>
                <a:sym typeface="Calibri"/>
              </a:rPr>
              <a:t>COMET</a:t>
            </a:r>
            <a:endParaRPr b="0" i="0" sz="1046" u="none" cap="none" strike="noStrike">
              <a:solidFill>
                <a:srgbClr val="000000"/>
              </a:solidFill>
              <a:latin typeface="Calibri"/>
              <a:ea typeface="Calibri"/>
              <a:cs typeface="Calibri"/>
              <a:sym typeface="Calibri"/>
            </a:endParaRPr>
          </a:p>
        </p:txBody>
      </p:sp>
      <p:sp>
        <p:nvSpPr>
          <p:cNvPr id="111" name="Google Shape;111;p8"/>
          <p:cNvSpPr/>
          <p:nvPr/>
        </p:nvSpPr>
        <p:spPr>
          <a:xfrm>
            <a:off x="7420498" y="1629617"/>
            <a:ext cx="1130400" cy="4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902"/>
              <a:buFont typeface="Calibri"/>
              <a:buNone/>
            </a:pPr>
            <a:r>
              <a:rPr b="1" lang="en-US" sz="1902">
                <a:latin typeface="Calibri"/>
                <a:ea typeface="Calibri"/>
                <a:cs typeface="Calibri"/>
                <a:sym typeface="Calibri"/>
              </a:rPr>
              <a:t>0.831</a:t>
            </a:r>
            <a:endParaRPr b="1" i="0" sz="1902" u="none" cap="none" strike="noStrike">
              <a:solidFill>
                <a:srgbClr val="000000"/>
              </a:solidFill>
              <a:latin typeface="Calibri"/>
              <a:ea typeface="Calibri"/>
              <a:cs typeface="Calibri"/>
              <a:sym typeface="Calibri"/>
            </a:endParaRPr>
          </a:p>
        </p:txBody>
      </p:sp>
      <p:sp>
        <p:nvSpPr>
          <p:cNvPr id="112" name="Google Shape;112;p8"/>
          <p:cNvSpPr/>
          <p:nvPr/>
        </p:nvSpPr>
        <p:spPr>
          <a:xfrm>
            <a:off x="517726" y="1074438"/>
            <a:ext cx="3609300" cy="243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34AB7"/>
              </a:buClr>
              <a:buSzPts val="856"/>
              <a:buFont typeface="Calibri"/>
              <a:buNone/>
            </a:pPr>
            <a:r>
              <a:rPr b="1" lang="en-US" sz="856">
                <a:solidFill>
                  <a:srgbClr val="534AB7"/>
                </a:solidFill>
                <a:latin typeface="Calibri"/>
                <a:ea typeface="Calibri"/>
                <a:cs typeface="Calibri"/>
                <a:sym typeface="Calibri"/>
              </a:rPr>
              <a:t>TAKEAWAYS</a:t>
            </a:r>
            <a:endParaRPr b="0" i="0" sz="856"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9"/>
          <p:cNvSpPr/>
          <p:nvPr/>
        </p:nvSpPr>
        <p:spPr>
          <a:xfrm>
            <a:off x="530350" y="228600"/>
            <a:ext cx="8229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1800" u="none" cap="none" strike="noStrike">
                <a:solidFill>
                  <a:srgbClr val="1E2761"/>
                </a:solidFill>
                <a:latin typeface="Calibri"/>
                <a:ea typeface="Calibri"/>
                <a:cs typeface="Calibri"/>
                <a:sym typeface="Calibri"/>
              </a:rPr>
              <a:t>IA³ （Infused Adapter by Inhibiting and Amplifying Inner Activations</a:t>
            </a:r>
            <a:r>
              <a:rPr b="1" i="0" lang="en-US" sz="1800" u="none" cap="none" strike="noStrike">
                <a:solidFill>
                  <a:srgbClr val="1E2761"/>
                </a:solidFill>
                <a:latin typeface="Calibri"/>
                <a:ea typeface="Calibri"/>
                <a:cs typeface="Calibri"/>
                <a:sym typeface="Calibri"/>
              </a:rPr>
              <a:t>）</a:t>
            </a:r>
            <a:r>
              <a:rPr b="1" i="0" lang="en-US" sz="1800" u="none" cap="none" strike="noStrike">
                <a:solidFill>
                  <a:srgbClr val="1E2761"/>
                </a:solidFill>
                <a:latin typeface="Calibri"/>
                <a:ea typeface="Calibri"/>
                <a:cs typeface="Calibri"/>
                <a:sym typeface="Calibri"/>
              </a:rPr>
              <a:t> </a:t>
            </a:r>
            <a:r>
              <a:rPr b="1" lang="en-US" sz="1800">
                <a:solidFill>
                  <a:srgbClr val="1E2761"/>
                </a:solidFill>
                <a:latin typeface="Calibri"/>
                <a:ea typeface="Calibri"/>
                <a:cs typeface="Calibri"/>
                <a:sym typeface="Calibri"/>
              </a:rPr>
              <a:t>Fine-tuning</a:t>
            </a:r>
            <a:endParaRPr b="1" sz="1800">
              <a:solidFill>
                <a:srgbClr val="1E2761"/>
              </a:solidFill>
              <a:latin typeface="Calibri"/>
              <a:ea typeface="Calibri"/>
              <a:cs typeface="Calibri"/>
              <a:sym typeface="Calibri"/>
            </a:endParaRPr>
          </a:p>
        </p:txBody>
      </p:sp>
      <p:sp>
        <p:nvSpPr>
          <p:cNvPr id="119" name="Google Shape;119;p9"/>
          <p:cNvSpPr/>
          <p:nvPr/>
        </p:nvSpPr>
        <p:spPr>
          <a:xfrm>
            <a:off x="457200" y="914400"/>
            <a:ext cx="8229600" cy="1828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a:off x="457200" y="228600"/>
            <a:ext cx="73152" cy="64008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457200" y="1097280"/>
            <a:ext cx="8229600" cy="3474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t/>
            </a:r>
            <a:endParaRPr b="0" sz="1300" u="none" cap="none" strike="noStrike">
              <a:solidFill>
                <a:schemeClr val="dk1"/>
              </a:solidFill>
              <a:latin typeface="Calibri"/>
              <a:ea typeface="Calibri"/>
              <a:cs typeface="Calibri"/>
              <a:sym typeface="Calibri"/>
            </a:endParaRPr>
          </a:p>
        </p:txBody>
      </p:sp>
      <p:pic>
        <p:nvPicPr>
          <p:cNvPr id="122" name="Google Shape;122;p9" title="Screenshot 2026-06-02 110855.png"/>
          <p:cNvPicPr preferRelativeResize="0"/>
          <p:nvPr/>
        </p:nvPicPr>
        <p:blipFill>
          <a:blip r:embed="rId3">
            <a:alphaModFix/>
          </a:blip>
          <a:stretch>
            <a:fillRect/>
          </a:stretch>
        </p:blipFill>
        <p:spPr>
          <a:xfrm>
            <a:off x="4954200" y="1321850"/>
            <a:ext cx="3895725" cy="2266950"/>
          </a:xfrm>
          <a:prstGeom prst="rect">
            <a:avLst/>
          </a:prstGeom>
          <a:noFill/>
          <a:ln>
            <a:noFill/>
          </a:ln>
        </p:spPr>
      </p:pic>
      <p:sp>
        <p:nvSpPr>
          <p:cNvPr id="123" name="Google Shape;123;p9"/>
          <p:cNvSpPr/>
          <p:nvPr/>
        </p:nvSpPr>
        <p:spPr>
          <a:xfrm>
            <a:off x="5206175" y="3851381"/>
            <a:ext cx="3391800" cy="965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74151"/>
              </a:buClr>
              <a:buSzPts val="1236"/>
              <a:buFont typeface="Calibri"/>
              <a:buNone/>
            </a:pPr>
            <a:r>
              <a:rPr lang="en-US" sz="1636">
                <a:latin typeface="Calibri"/>
                <a:ea typeface="Calibri"/>
                <a:cs typeface="Calibri"/>
                <a:sym typeface="Calibri"/>
              </a:rPr>
              <a:t>Liu et al. (2022) </a:t>
            </a:r>
            <a:endParaRPr b="0" i="0" sz="1636" u="none" cap="none" strike="noStrike">
              <a:solidFill>
                <a:srgbClr val="000000"/>
              </a:solidFill>
              <a:latin typeface="Calibri"/>
              <a:ea typeface="Calibri"/>
              <a:cs typeface="Calibri"/>
              <a:sym typeface="Calibri"/>
            </a:endParaRPr>
          </a:p>
        </p:txBody>
      </p:sp>
      <p:pic>
        <p:nvPicPr>
          <p:cNvPr id="124" name="Google Shape;124;p9"/>
          <p:cNvPicPr preferRelativeResize="0"/>
          <p:nvPr/>
        </p:nvPicPr>
        <p:blipFill>
          <a:blip r:embed="rId4">
            <a:alphaModFix/>
          </a:blip>
          <a:stretch>
            <a:fillRect/>
          </a:stretch>
        </p:blipFill>
        <p:spPr>
          <a:xfrm>
            <a:off x="361025" y="1097263"/>
            <a:ext cx="5886450" cy="619125"/>
          </a:xfrm>
          <a:prstGeom prst="rect">
            <a:avLst/>
          </a:prstGeom>
          <a:noFill/>
          <a:ln>
            <a:noFill/>
          </a:ln>
        </p:spPr>
      </p:pic>
      <p:sp>
        <p:nvSpPr>
          <p:cNvPr id="125" name="Google Shape;125;p9"/>
          <p:cNvSpPr/>
          <p:nvPr/>
        </p:nvSpPr>
        <p:spPr>
          <a:xfrm>
            <a:off x="457200" y="1944875"/>
            <a:ext cx="4634100" cy="1988400"/>
          </a:xfrm>
          <a:prstGeom prst="rect">
            <a:avLst/>
          </a:prstGeom>
          <a:noFill/>
          <a:ln>
            <a:noFill/>
          </a:ln>
        </p:spPr>
        <p:txBody>
          <a:bodyPr anchorCtr="0" anchor="t" bIns="0" lIns="0" spcFirstLastPara="1" rIns="0" wrap="square" tIns="0">
            <a:noAutofit/>
          </a:bodyPr>
          <a:lstStyle/>
          <a:p>
            <a:pPr indent="-332516" lvl="0" marL="457200" rtl="0" algn="l">
              <a:lnSpc>
                <a:spcPct val="150000"/>
              </a:lnSpc>
              <a:spcBef>
                <a:spcPts val="0"/>
              </a:spcBef>
              <a:spcAft>
                <a:spcPts val="0"/>
              </a:spcAft>
              <a:buSzPts val="1636"/>
              <a:buFont typeface="Calibri"/>
              <a:buChar char="●"/>
            </a:pPr>
            <a:r>
              <a:rPr lang="en-US" sz="1636">
                <a:latin typeface="Calibri"/>
                <a:ea typeface="Calibri"/>
                <a:cs typeface="Calibri"/>
                <a:sym typeface="Calibri"/>
              </a:rPr>
              <a:t>Add </a:t>
            </a:r>
            <a:r>
              <a:rPr b="1" lang="en-US" sz="1636">
                <a:latin typeface="Calibri"/>
                <a:ea typeface="Calibri"/>
                <a:cs typeface="Calibri"/>
                <a:sym typeface="Calibri"/>
              </a:rPr>
              <a:t>learnable scaling vectors</a:t>
            </a:r>
            <a:endParaRPr b="1" sz="1636">
              <a:latin typeface="Calibri"/>
              <a:ea typeface="Calibri"/>
              <a:cs typeface="Calibri"/>
              <a:sym typeface="Calibri"/>
            </a:endParaRPr>
          </a:p>
          <a:p>
            <a:pPr indent="-332516" lvl="0" marL="457200" rtl="0" algn="l">
              <a:lnSpc>
                <a:spcPct val="150000"/>
              </a:lnSpc>
              <a:spcBef>
                <a:spcPts val="0"/>
              </a:spcBef>
              <a:spcAft>
                <a:spcPts val="0"/>
              </a:spcAft>
              <a:buSzPts val="1636"/>
              <a:buFont typeface="Calibri"/>
              <a:buChar char="●"/>
            </a:pPr>
            <a:r>
              <a:rPr lang="en-US" sz="1636">
                <a:latin typeface="Calibri"/>
                <a:ea typeface="Calibri"/>
                <a:cs typeface="Calibri"/>
                <a:sym typeface="Calibri"/>
              </a:rPr>
              <a:t>Modulate </a:t>
            </a:r>
            <a:r>
              <a:rPr b="1" lang="en-US" sz="1636">
                <a:latin typeface="Calibri"/>
                <a:ea typeface="Calibri"/>
                <a:cs typeface="Calibri"/>
                <a:sym typeface="Calibri"/>
              </a:rPr>
              <a:t>attention </a:t>
            </a:r>
            <a:r>
              <a:rPr lang="en-US" sz="1636">
                <a:latin typeface="Calibri"/>
                <a:ea typeface="Calibri"/>
                <a:cs typeface="Calibri"/>
                <a:sym typeface="Calibri"/>
              </a:rPr>
              <a:t>and</a:t>
            </a:r>
            <a:r>
              <a:rPr b="1" lang="en-US" sz="1636">
                <a:latin typeface="Calibri"/>
                <a:ea typeface="Calibri"/>
                <a:cs typeface="Calibri"/>
                <a:sym typeface="Calibri"/>
              </a:rPr>
              <a:t> feed-forward activations</a:t>
            </a:r>
            <a:r>
              <a:rPr lang="en-US" sz="1636">
                <a:latin typeface="Calibri"/>
                <a:ea typeface="Calibri"/>
                <a:cs typeface="Calibri"/>
                <a:sym typeface="Calibri"/>
              </a:rPr>
              <a:t> via element-wise scaling</a:t>
            </a:r>
            <a:endParaRPr sz="1636">
              <a:latin typeface="Calibri"/>
              <a:ea typeface="Calibri"/>
              <a:cs typeface="Calibri"/>
              <a:sym typeface="Calibri"/>
            </a:endParaRPr>
          </a:p>
          <a:p>
            <a:pPr indent="-332516" lvl="0" marL="457200" rtl="0" algn="l">
              <a:lnSpc>
                <a:spcPct val="150000"/>
              </a:lnSpc>
              <a:spcBef>
                <a:spcPts val="0"/>
              </a:spcBef>
              <a:spcAft>
                <a:spcPts val="0"/>
              </a:spcAft>
              <a:buSzPts val="1636"/>
              <a:buFont typeface="Calibri"/>
              <a:buChar char="●"/>
            </a:pPr>
            <a:r>
              <a:rPr lang="en-US" sz="1636">
                <a:latin typeface="Calibri"/>
                <a:ea typeface="Calibri"/>
                <a:cs typeface="Calibri"/>
                <a:sym typeface="Calibri"/>
              </a:rPr>
              <a:t>Fine-tune only a</a:t>
            </a:r>
            <a:r>
              <a:rPr b="1" lang="en-US" sz="1636">
                <a:latin typeface="Calibri"/>
                <a:ea typeface="Calibri"/>
                <a:cs typeface="Calibri"/>
                <a:sym typeface="Calibri"/>
              </a:rPr>
              <a:t> small number of parameters</a:t>
            </a:r>
            <a:r>
              <a:rPr lang="en-US" sz="1636">
                <a:latin typeface="Calibri"/>
                <a:ea typeface="Calibri"/>
                <a:cs typeface="Calibri"/>
                <a:sym typeface="Calibri"/>
              </a:rPr>
              <a:t> for </a:t>
            </a:r>
            <a:endParaRPr sz="1636">
              <a:latin typeface="Calibri"/>
              <a:ea typeface="Calibri"/>
              <a:cs typeface="Calibri"/>
              <a:sym typeface="Calibri"/>
            </a:endParaRPr>
          </a:p>
          <a:p>
            <a:pPr indent="0" lvl="0" marL="457200" rtl="0" algn="l">
              <a:lnSpc>
                <a:spcPct val="150000"/>
              </a:lnSpc>
              <a:spcBef>
                <a:spcPts val="0"/>
              </a:spcBef>
              <a:spcAft>
                <a:spcPts val="0"/>
              </a:spcAft>
              <a:buNone/>
            </a:pPr>
            <a:r>
              <a:rPr lang="en-US" sz="1636">
                <a:latin typeface="Calibri"/>
                <a:ea typeface="Calibri"/>
                <a:cs typeface="Calibri"/>
                <a:sym typeface="Calibri"/>
              </a:rPr>
              <a:t>efficient adaptation </a:t>
            </a:r>
            <a:r>
              <a:rPr lang="en-US" sz="1600">
                <a:solidFill>
                  <a:srgbClr val="534AB7"/>
                </a:solidFill>
                <a:latin typeface="Calibri"/>
                <a:ea typeface="Calibri"/>
                <a:cs typeface="Calibri"/>
                <a:sym typeface="Calibri"/>
              </a:rPr>
              <a:t>560k (0.09%)</a:t>
            </a:r>
            <a:endParaRPr sz="1936">
              <a:latin typeface="Calibri"/>
              <a:ea typeface="Calibri"/>
              <a:cs typeface="Calibri"/>
              <a:sym typeface="Calibri"/>
            </a:endParaRPr>
          </a:p>
          <a:p>
            <a:pPr indent="0" lvl="0" marL="457200" marR="0" rtl="0" algn="ctr">
              <a:spcBef>
                <a:spcPts val="0"/>
              </a:spcBef>
              <a:spcAft>
                <a:spcPts val="0"/>
              </a:spcAft>
              <a:buNone/>
            </a:pPr>
            <a:r>
              <a:t/>
            </a:r>
            <a:endParaRPr b="0" i="0" sz="1636" u="none" cap="none" strike="noStrike">
              <a:solidFill>
                <a:srgbClr val="000000"/>
              </a:solidFill>
              <a:latin typeface="Calibri"/>
              <a:ea typeface="Calibri"/>
              <a:cs typeface="Calibri"/>
              <a:sym typeface="Calibri"/>
            </a:endParaRPr>
          </a:p>
        </p:txBody>
      </p:sp>
      <p:sp>
        <p:nvSpPr>
          <p:cNvPr id="126" name="Google Shape;126;p9"/>
          <p:cNvSpPr/>
          <p:nvPr/>
        </p:nvSpPr>
        <p:spPr>
          <a:xfrm>
            <a:off x="5665475" y="1944875"/>
            <a:ext cx="582000" cy="548100"/>
          </a:xfrm>
          <a:prstGeom prst="ellipse">
            <a:avLst/>
          </a:prstGeom>
          <a:noFill/>
          <a:ln cap="flat" cmpd="sng" w="381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9"/>
          <p:cNvSpPr/>
          <p:nvPr/>
        </p:nvSpPr>
        <p:spPr>
          <a:xfrm>
            <a:off x="5426425" y="2509825"/>
            <a:ext cx="582000" cy="548100"/>
          </a:xfrm>
          <a:prstGeom prst="ellipse">
            <a:avLst/>
          </a:prstGeom>
          <a:noFill/>
          <a:ln cap="flat" cmpd="sng" w="381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9"/>
          <p:cNvSpPr/>
          <p:nvPr/>
        </p:nvSpPr>
        <p:spPr>
          <a:xfrm>
            <a:off x="8267925" y="2086038"/>
            <a:ext cx="582000" cy="548100"/>
          </a:xfrm>
          <a:prstGeom prst="ellipse">
            <a:avLst/>
          </a:prstGeom>
          <a:noFill/>
          <a:ln cap="flat" cmpd="sng" w="381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10"/>
          <p:cNvSpPr/>
          <p:nvPr/>
        </p:nvSpPr>
        <p:spPr>
          <a:xfrm>
            <a:off x="530350" y="228600"/>
            <a:ext cx="8229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1800" u="none" cap="none" strike="noStrike">
                <a:solidFill>
                  <a:srgbClr val="1E2761"/>
                </a:solidFill>
                <a:latin typeface="Calibri"/>
                <a:ea typeface="Calibri"/>
                <a:cs typeface="Calibri"/>
                <a:sym typeface="Calibri"/>
              </a:rPr>
              <a:t>IA³ （Infused Adapter by Inhibiting and Amplifying Inner Activations） </a:t>
            </a:r>
            <a:r>
              <a:rPr b="1" lang="en-US" sz="1800">
                <a:solidFill>
                  <a:srgbClr val="1E2761"/>
                </a:solidFill>
                <a:latin typeface="Calibri"/>
                <a:ea typeface="Calibri"/>
                <a:cs typeface="Calibri"/>
                <a:sym typeface="Calibri"/>
              </a:rPr>
              <a:t>Fine-tuning</a:t>
            </a:r>
            <a:endParaRPr b="1" sz="1800">
              <a:solidFill>
                <a:srgbClr val="1E2761"/>
              </a:solidFill>
              <a:latin typeface="Calibri"/>
              <a:ea typeface="Calibri"/>
              <a:cs typeface="Calibri"/>
              <a:sym typeface="Calibri"/>
            </a:endParaRPr>
          </a:p>
        </p:txBody>
      </p:sp>
      <p:sp>
        <p:nvSpPr>
          <p:cNvPr id="135" name="Google Shape;135;p10"/>
          <p:cNvSpPr/>
          <p:nvPr/>
        </p:nvSpPr>
        <p:spPr>
          <a:xfrm>
            <a:off x="457200" y="914400"/>
            <a:ext cx="8229600" cy="183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
          <p:cNvSpPr/>
          <p:nvPr/>
        </p:nvSpPr>
        <p:spPr>
          <a:xfrm>
            <a:off x="457200" y="228600"/>
            <a:ext cx="73200" cy="64020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
          <p:cNvSpPr/>
          <p:nvPr/>
        </p:nvSpPr>
        <p:spPr>
          <a:xfrm>
            <a:off x="914400" y="978305"/>
            <a:ext cx="8229600" cy="347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t/>
            </a:r>
            <a:endParaRPr b="0" sz="1300" u="none" cap="none" strike="noStrike">
              <a:solidFill>
                <a:schemeClr val="dk1"/>
              </a:solidFill>
              <a:latin typeface="Calibri"/>
              <a:ea typeface="Calibri"/>
              <a:cs typeface="Calibri"/>
              <a:sym typeface="Calibri"/>
            </a:endParaRPr>
          </a:p>
        </p:txBody>
      </p:sp>
      <p:sp>
        <p:nvSpPr>
          <p:cNvPr id="138" name="Google Shape;138;p10"/>
          <p:cNvSpPr txBox="1"/>
          <p:nvPr/>
        </p:nvSpPr>
        <p:spPr>
          <a:xfrm>
            <a:off x="457200" y="978288"/>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200">
                <a:solidFill>
                  <a:srgbClr val="3730A3"/>
                </a:solidFill>
                <a:latin typeface="Calibri"/>
                <a:ea typeface="Calibri"/>
                <a:cs typeface="Calibri"/>
                <a:sym typeface="Calibri"/>
              </a:rPr>
              <a:t>Experimental Results</a:t>
            </a:r>
            <a:endParaRPr b="1" sz="2200">
              <a:solidFill>
                <a:srgbClr val="3730A3"/>
              </a:solidFill>
              <a:latin typeface="Calibri"/>
              <a:ea typeface="Calibri"/>
              <a:cs typeface="Calibri"/>
              <a:sym typeface="Calibri"/>
            </a:endParaRPr>
          </a:p>
        </p:txBody>
      </p:sp>
      <p:pic>
        <p:nvPicPr>
          <p:cNvPr id="139" name="Google Shape;139;p10"/>
          <p:cNvPicPr preferRelativeResize="0"/>
          <p:nvPr/>
        </p:nvPicPr>
        <p:blipFill>
          <a:blip r:embed="rId3">
            <a:alphaModFix/>
          </a:blip>
          <a:stretch>
            <a:fillRect/>
          </a:stretch>
        </p:blipFill>
        <p:spPr>
          <a:xfrm>
            <a:off x="0" y="1355893"/>
            <a:ext cx="5924300" cy="3250482"/>
          </a:xfrm>
          <a:prstGeom prst="rect">
            <a:avLst/>
          </a:prstGeom>
          <a:noFill/>
          <a:ln>
            <a:noFill/>
          </a:ln>
        </p:spPr>
      </p:pic>
      <p:sp>
        <p:nvSpPr>
          <p:cNvPr id="140" name="Google Shape;140;p10"/>
          <p:cNvSpPr txBox="1"/>
          <p:nvPr/>
        </p:nvSpPr>
        <p:spPr>
          <a:xfrm>
            <a:off x="5324088" y="1082663"/>
            <a:ext cx="3000000" cy="96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956">
                <a:solidFill>
                  <a:srgbClr val="534AB7"/>
                </a:solidFill>
                <a:latin typeface="Calibri"/>
                <a:ea typeface="Calibri"/>
                <a:cs typeface="Calibri"/>
                <a:sym typeface="Calibri"/>
              </a:rPr>
              <a:t>TAKEAWAYS</a:t>
            </a:r>
            <a:endParaRPr sz="1956">
              <a:latin typeface="Calibri"/>
              <a:ea typeface="Calibri"/>
              <a:cs typeface="Calibri"/>
              <a:sym typeface="Calibri"/>
            </a:endParaRPr>
          </a:p>
          <a:p>
            <a:pPr indent="0" lvl="0" marL="0" rtl="0" algn="l">
              <a:lnSpc>
                <a:spcPct val="115000"/>
              </a:lnSpc>
              <a:spcBef>
                <a:spcPts val="0"/>
              </a:spcBef>
              <a:spcAft>
                <a:spcPts val="0"/>
              </a:spcAft>
              <a:buNone/>
            </a:pPr>
            <a:r>
              <a:t/>
            </a:r>
            <a:endParaRPr b="1" sz="2800">
              <a:solidFill>
                <a:srgbClr val="3730A3"/>
              </a:solidFill>
              <a:latin typeface="Calibri"/>
              <a:ea typeface="Calibri"/>
              <a:cs typeface="Calibri"/>
              <a:sym typeface="Calibri"/>
            </a:endParaRPr>
          </a:p>
        </p:txBody>
      </p:sp>
      <p:sp>
        <p:nvSpPr>
          <p:cNvPr id="141" name="Google Shape;141;p10"/>
          <p:cNvSpPr/>
          <p:nvPr/>
        </p:nvSpPr>
        <p:spPr>
          <a:xfrm>
            <a:off x="5324100" y="1721400"/>
            <a:ext cx="4634100" cy="1988400"/>
          </a:xfrm>
          <a:prstGeom prst="rect">
            <a:avLst/>
          </a:prstGeom>
          <a:noFill/>
          <a:ln>
            <a:noFill/>
          </a:ln>
        </p:spPr>
        <p:txBody>
          <a:bodyPr anchorCtr="0" anchor="t" bIns="0" lIns="0" spcFirstLastPara="1" rIns="0" wrap="square" tIns="0">
            <a:noAutofit/>
          </a:bodyPr>
          <a:lstStyle/>
          <a:p>
            <a:pPr indent="-376966" lvl="0" marL="457200" rtl="0" algn="l">
              <a:lnSpc>
                <a:spcPct val="150000"/>
              </a:lnSpc>
              <a:spcBef>
                <a:spcPts val="0"/>
              </a:spcBef>
              <a:spcAft>
                <a:spcPts val="0"/>
              </a:spcAft>
              <a:buSzPts val="2336"/>
              <a:buFont typeface="Calibri"/>
              <a:buChar char="●"/>
            </a:pPr>
            <a:r>
              <a:rPr b="1" lang="en-US" sz="1900">
                <a:solidFill>
                  <a:srgbClr val="0F2044"/>
                </a:solidFill>
                <a:latin typeface="Calibri"/>
                <a:ea typeface="Calibri"/>
                <a:cs typeface="Calibri"/>
                <a:sym typeface="Calibri"/>
              </a:rPr>
              <a:t>Higher LR benefits IA³</a:t>
            </a:r>
            <a:endParaRPr b="1" sz="1900">
              <a:solidFill>
                <a:srgbClr val="0F2044"/>
              </a:solidFill>
              <a:latin typeface="Calibri"/>
              <a:ea typeface="Calibri"/>
              <a:cs typeface="Calibri"/>
              <a:sym typeface="Calibri"/>
            </a:endParaRPr>
          </a:p>
          <a:p>
            <a:pPr indent="0" lvl="0" marL="0" rtl="0" algn="l">
              <a:lnSpc>
                <a:spcPct val="115000"/>
              </a:lnSpc>
              <a:spcBef>
                <a:spcPts val="0"/>
              </a:spcBef>
              <a:spcAft>
                <a:spcPts val="0"/>
              </a:spcAft>
              <a:buNone/>
            </a:pPr>
            <a:r>
              <a:rPr lang="en-US">
                <a:solidFill>
                  <a:srgbClr val="1E2761"/>
                </a:solidFill>
                <a:latin typeface="Calibri"/>
                <a:ea typeface="Calibri"/>
                <a:cs typeface="Calibri"/>
                <a:sym typeface="Calibri"/>
              </a:rPr>
              <a:t>IA³ </a:t>
            </a:r>
            <a:r>
              <a:rPr lang="en-US">
                <a:solidFill>
                  <a:srgbClr val="64748B"/>
                </a:solidFill>
                <a:latin typeface="Calibri"/>
                <a:ea typeface="Calibri"/>
                <a:cs typeface="Calibri"/>
                <a:sym typeface="Calibri"/>
              </a:rPr>
              <a:t>tolerates LR as high as 1e-2 without overfitting </a:t>
            </a:r>
            <a:endParaRPr>
              <a:solidFill>
                <a:srgbClr val="64748B"/>
              </a:solidFill>
              <a:latin typeface="Calibri"/>
              <a:ea typeface="Calibri"/>
              <a:cs typeface="Calibri"/>
              <a:sym typeface="Calibri"/>
            </a:endParaRPr>
          </a:p>
          <a:p>
            <a:pPr indent="0" lvl="0" marL="0" rtl="0" algn="l">
              <a:lnSpc>
                <a:spcPct val="115000"/>
              </a:lnSpc>
              <a:spcBef>
                <a:spcPts val="0"/>
              </a:spcBef>
              <a:spcAft>
                <a:spcPts val="0"/>
              </a:spcAft>
              <a:buNone/>
            </a:pPr>
            <a:r>
              <a:rPr lang="en-US">
                <a:solidFill>
                  <a:srgbClr val="64748B"/>
                </a:solidFill>
                <a:latin typeface="Calibri"/>
                <a:ea typeface="Calibri"/>
                <a:cs typeface="Calibri"/>
                <a:sym typeface="Calibri"/>
              </a:rPr>
              <a:t>(Liu et al., 2022).</a:t>
            </a:r>
            <a:endParaRPr>
              <a:solidFill>
                <a:srgbClr val="64748B"/>
              </a:solidFill>
              <a:latin typeface="Calibri"/>
              <a:ea typeface="Calibri"/>
              <a:cs typeface="Calibri"/>
              <a:sym typeface="Calibri"/>
            </a:endParaRPr>
          </a:p>
          <a:p>
            <a:pPr indent="-376966" lvl="0" marL="457200" rtl="0" algn="l">
              <a:lnSpc>
                <a:spcPct val="150000"/>
              </a:lnSpc>
              <a:spcBef>
                <a:spcPts val="0"/>
              </a:spcBef>
              <a:spcAft>
                <a:spcPts val="0"/>
              </a:spcAft>
              <a:buSzPts val="2336"/>
              <a:buFont typeface="Calibri"/>
              <a:buChar char="●"/>
            </a:pPr>
            <a:r>
              <a:rPr b="1" lang="en-US" sz="1700">
                <a:solidFill>
                  <a:srgbClr val="0F2044"/>
                </a:solidFill>
                <a:latin typeface="Calibri"/>
                <a:ea typeface="Calibri"/>
                <a:cs typeface="Calibri"/>
                <a:sym typeface="Calibri"/>
              </a:rPr>
              <a:t>Non-monotonic LR response</a:t>
            </a:r>
            <a:endParaRPr b="1" sz="1700">
              <a:solidFill>
                <a:srgbClr val="0F2044"/>
              </a:solidFill>
              <a:latin typeface="Calibri"/>
              <a:ea typeface="Calibri"/>
              <a:cs typeface="Calibri"/>
              <a:sym typeface="Calibri"/>
            </a:endParaRPr>
          </a:p>
          <a:p>
            <a:pPr indent="0" lvl="0" marL="0" rtl="0" algn="l">
              <a:lnSpc>
                <a:spcPct val="115000"/>
              </a:lnSpc>
              <a:spcBef>
                <a:spcPts val="0"/>
              </a:spcBef>
              <a:spcAft>
                <a:spcPts val="0"/>
              </a:spcAft>
              <a:buNone/>
            </a:pPr>
            <a:r>
              <a:rPr lang="en-US" sz="1300">
                <a:solidFill>
                  <a:srgbClr val="64748B"/>
                </a:solidFill>
                <a:latin typeface="Calibri"/>
                <a:ea typeface="Calibri"/>
                <a:cs typeface="Calibri"/>
                <a:sym typeface="Calibri"/>
              </a:rPr>
              <a:t>PEFT hyperparameter landscapes are </a:t>
            </a:r>
            <a:endParaRPr sz="1300">
              <a:solidFill>
                <a:srgbClr val="64748B"/>
              </a:solidFill>
              <a:latin typeface="Calibri"/>
              <a:ea typeface="Calibri"/>
              <a:cs typeface="Calibri"/>
              <a:sym typeface="Calibri"/>
            </a:endParaRPr>
          </a:p>
          <a:p>
            <a:pPr indent="0" lvl="0" marL="0" rtl="0" algn="l">
              <a:lnSpc>
                <a:spcPct val="115000"/>
              </a:lnSpc>
              <a:spcBef>
                <a:spcPts val="0"/>
              </a:spcBef>
              <a:spcAft>
                <a:spcPts val="0"/>
              </a:spcAft>
              <a:buNone/>
            </a:pPr>
            <a:r>
              <a:rPr lang="en-US" sz="1300">
                <a:solidFill>
                  <a:srgbClr val="64748B"/>
                </a:solidFill>
                <a:latin typeface="Calibri"/>
                <a:ea typeface="Calibri"/>
                <a:cs typeface="Calibri"/>
                <a:sym typeface="Calibri"/>
              </a:rPr>
              <a:t>non-monotonic with sharp drops at suboptimal values</a:t>
            </a:r>
            <a:endParaRPr b="1" sz="2000">
              <a:solidFill>
                <a:srgbClr val="0F2044"/>
              </a:solidFill>
              <a:latin typeface="Calibri"/>
              <a:ea typeface="Calibri"/>
              <a:cs typeface="Calibri"/>
              <a:sym typeface="Calibri"/>
            </a:endParaRPr>
          </a:p>
          <a:p>
            <a:pPr indent="-376966" lvl="0" marL="457200" rtl="0" algn="l">
              <a:lnSpc>
                <a:spcPct val="150000"/>
              </a:lnSpc>
              <a:spcBef>
                <a:spcPts val="0"/>
              </a:spcBef>
              <a:spcAft>
                <a:spcPts val="0"/>
              </a:spcAft>
              <a:buSzPts val="2336"/>
              <a:buFont typeface="Calibri"/>
              <a:buChar char="●"/>
            </a:pPr>
            <a:r>
              <a:rPr b="1" lang="en-US" sz="1700">
                <a:solidFill>
                  <a:srgbClr val="0F2044"/>
                </a:solidFill>
                <a:latin typeface="Calibri"/>
                <a:ea typeface="Calibri"/>
                <a:cs typeface="Calibri"/>
                <a:sym typeface="Calibri"/>
              </a:rPr>
              <a:t>High train loss ≠ worse eval</a:t>
            </a:r>
            <a:endParaRPr b="1" sz="1700">
              <a:solidFill>
                <a:srgbClr val="0F2044"/>
              </a:solidFill>
              <a:latin typeface="Calibri"/>
              <a:ea typeface="Calibri"/>
              <a:cs typeface="Calibri"/>
              <a:sym typeface="Calibri"/>
            </a:endParaRPr>
          </a:p>
          <a:p>
            <a:pPr indent="0" lvl="0" marL="0" rtl="0" algn="l">
              <a:lnSpc>
                <a:spcPct val="150000"/>
              </a:lnSpc>
              <a:spcBef>
                <a:spcPts val="0"/>
              </a:spcBef>
              <a:spcAft>
                <a:spcPts val="0"/>
              </a:spcAft>
              <a:buNone/>
            </a:pPr>
            <a:r>
              <a:rPr lang="en-US" sz="1300">
                <a:solidFill>
                  <a:srgbClr val="64748B"/>
                </a:solidFill>
                <a:latin typeface="Calibri"/>
                <a:ea typeface="Calibri"/>
                <a:cs typeface="Calibri"/>
                <a:sym typeface="Calibri"/>
              </a:rPr>
              <a:t>V3 has highest train loss (44.67) yet best BLEU/COMET. </a:t>
            </a:r>
            <a:endParaRPr b="1" sz="2000">
              <a:solidFill>
                <a:srgbClr val="0F2044"/>
              </a:solidFill>
              <a:latin typeface="Calibri"/>
              <a:ea typeface="Calibri"/>
              <a:cs typeface="Calibri"/>
              <a:sym typeface="Calibri"/>
            </a:endParaRPr>
          </a:p>
          <a:p>
            <a:pPr indent="0" lvl="0" marL="0" rtl="0" algn="l">
              <a:lnSpc>
                <a:spcPct val="150000"/>
              </a:lnSpc>
              <a:spcBef>
                <a:spcPts val="0"/>
              </a:spcBef>
              <a:spcAft>
                <a:spcPts val="0"/>
              </a:spcAft>
              <a:buNone/>
            </a:pPr>
            <a:r>
              <a:t/>
            </a:r>
            <a:endParaRPr b="1" sz="1700">
              <a:solidFill>
                <a:srgbClr val="0F2044"/>
              </a:solidFill>
              <a:latin typeface="Calibri"/>
              <a:ea typeface="Calibri"/>
              <a:cs typeface="Calibri"/>
              <a:sym typeface="Calibri"/>
            </a:endParaRPr>
          </a:p>
          <a:p>
            <a:pPr indent="0" lvl="0" marL="0" rtl="0" algn="l">
              <a:lnSpc>
                <a:spcPct val="150000"/>
              </a:lnSpc>
              <a:spcBef>
                <a:spcPts val="0"/>
              </a:spcBef>
              <a:spcAft>
                <a:spcPts val="0"/>
              </a:spcAft>
              <a:buNone/>
            </a:pPr>
            <a:r>
              <a:t/>
            </a:r>
            <a:endParaRPr sz="1836">
              <a:latin typeface="Calibri"/>
              <a:ea typeface="Calibri"/>
              <a:cs typeface="Calibri"/>
              <a:sym typeface="Calibri"/>
            </a:endParaRPr>
          </a:p>
          <a:p>
            <a:pPr indent="0" lvl="0" marL="457200" marR="0" rtl="0" algn="ctr">
              <a:spcBef>
                <a:spcPts val="0"/>
              </a:spcBef>
              <a:spcAft>
                <a:spcPts val="0"/>
              </a:spcAft>
              <a:buNone/>
            </a:pPr>
            <a:r>
              <a:t/>
            </a:r>
            <a:endParaRPr b="0" i="0" sz="1636"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11"/>
          <p:cNvSpPr/>
          <p:nvPr/>
        </p:nvSpPr>
        <p:spPr>
          <a:xfrm>
            <a:off x="457200" y="22860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Prefix </a:t>
            </a:r>
            <a:r>
              <a:rPr b="1" lang="en-US" sz="2800">
                <a:solidFill>
                  <a:srgbClr val="1E2761"/>
                </a:solidFill>
                <a:latin typeface="Calibri"/>
                <a:ea typeface="Calibri"/>
                <a:cs typeface="Calibri"/>
                <a:sym typeface="Calibri"/>
              </a:rPr>
              <a:t>T</a:t>
            </a:r>
            <a:r>
              <a:rPr b="1" lang="en-US" sz="2800">
                <a:solidFill>
                  <a:srgbClr val="1E2761"/>
                </a:solidFill>
                <a:latin typeface="Calibri"/>
                <a:ea typeface="Calibri"/>
                <a:cs typeface="Calibri"/>
                <a:sym typeface="Calibri"/>
              </a:rPr>
              <a:t>uning</a:t>
            </a:r>
            <a:endParaRPr b="1" sz="2800">
              <a:solidFill>
                <a:srgbClr val="1E2761"/>
              </a:solidFill>
              <a:latin typeface="Calibri"/>
              <a:ea typeface="Calibri"/>
              <a:cs typeface="Calibri"/>
              <a:sym typeface="Calibri"/>
            </a:endParaRPr>
          </a:p>
        </p:txBody>
      </p:sp>
      <p:sp>
        <p:nvSpPr>
          <p:cNvPr id="148" name="Google Shape;148;p11"/>
          <p:cNvSpPr/>
          <p:nvPr/>
        </p:nvSpPr>
        <p:spPr>
          <a:xfrm>
            <a:off x="457200" y="914400"/>
            <a:ext cx="8229600" cy="1828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a:off x="457200" y="228600"/>
            <a:ext cx="73152" cy="64008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a:off x="457200" y="1097280"/>
            <a:ext cx="8229600" cy="3474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t/>
            </a:r>
            <a:endParaRPr sz="1300">
              <a:solidFill>
                <a:srgbClr val="1E2761"/>
              </a:solidFill>
              <a:latin typeface="Calibri"/>
              <a:ea typeface="Calibri"/>
              <a:cs typeface="Calibri"/>
              <a:sym typeface="Calibri"/>
            </a:endParaRPr>
          </a:p>
          <a:p>
            <a:pPr indent="0" lvl="0" marL="0" marR="0" rtl="0" algn="l">
              <a:spcBef>
                <a:spcPts val="0"/>
              </a:spcBef>
              <a:spcAft>
                <a:spcPts val="0"/>
              </a:spcAft>
              <a:buClr>
                <a:srgbClr val="64748B"/>
              </a:buClr>
              <a:buSzPts val="1300"/>
              <a:buFont typeface="Calibri"/>
              <a:buNone/>
            </a:pPr>
            <a:r>
              <a:rPr b="1" lang="en-US" sz="1300" u="none" cap="none" strike="noStrike">
                <a:solidFill>
                  <a:srgbClr val="1E2761"/>
                </a:solidFill>
                <a:latin typeface="Calibri"/>
                <a:ea typeface="Calibri"/>
                <a:cs typeface="Calibri"/>
                <a:sym typeface="Calibri"/>
              </a:rPr>
              <a:t>Method principle:</a:t>
            </a:r>
            <a:r>
              <a:rPr b="0" lang="en-US" sz="1300" u="none" cap="none" strike="noStrike">
                <a:solidFill>
                  <a:srgbClr val="1E2761"/>
                </a:solidFill>
                <a:latin typeface="Calibri"/>
                <a:ea typeface="Calibri"/>
                <a:cs typeface="Calibri"/>
                <a:sym typeface="Calibri"/>
              </a:rPr>
              <a:t> </a:t>
            </a:r>
            <a:r>
              <a:rPr lang="en-US" sz="1300">
                <a:solidFill>
                  <a:srgbClr val="1E2761"/>
                </a:solidFill>
                <a:latin typeface="Calibri"/>
                <a:ea typeface="Calibri"/>
                <a:cs typeface="Calibri"/>
                <a:sym typeface="Calibri"/>
              </a:rPr>
              <a:t>virtual tokens, frozen model</a:t>
            </a:r>
            <a:endParaRPr b="0" sz="1300" u="none" cap="none" strike="noStrike">
              <a:solidFill>
                <a:srgbClr val="1E276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sz="1300" u="none" cap="none" strike="noStrike">
              <a:solidFill>
                <a:srgbClr val="1E2761"/>
              </a:solidFill>
              <a:latin typeface="Calibri"/>
              <a:ea typeface="Calibri"/>
              <a:cs typeface="Calibri"/>
              <a:sym typeface="Calibri"/>
            </a:endParaRPr>
          </a:p>
          <a:p>
            <a:pPr indent="0" lvl="0" marL="0" marR="0" rtl="0" algn="l">
              <a:spcBef>
                <a:spcPts val="0"/>
              </a:spcBef>
              <a:spcAft>
                <a:spcPts val="0"/>
              </a:spcAft>
              <a:buClr>
                <a:srgbClr val="64748B"/>
              </a:buClr>
              <a:buSzPts val="1300"/>
              <a:buFont typeface="Calibri"/>
              <a:buNone/>
            </a:pPr>
            <a:r>
              <a:rPr b="1" lang="en-US" sz="1300" u="none" cap="none" strike="noStrike">
                <a:solidFill>
                  <a:srgbClr val="1E2761"/>
                </a:solidFill>
                <a:latin typeface="Calibri"/>
                <a:ea typeface="Calibri"/>
                <a:cs typeface="Calibri"/>
                <a:sym typeface="Calibri"/>
              </a:rPr>
              <a:t>Trainable parameters</a:t>
            </a:r>
            <a:r>
              <a:rPr b="0" lang="en-US" sz="1300" u="none" cap="none" strike="noStrike">
                <a:solidFill>
                  <a:srgbClr val="1E2761"/>
                </a:solidFill>
                <a:latin typeface="Calibri"/>
                <a:ea typeface="Calibri"/>
                <a:cs typeface="Calibri"/>
                <a:sym typeface="Calibri"/>
              </a:rPr>
              <a:t>: 491k (0.08%)</a:t>
            </a:r>
            <a:r>
              <a:rPr lang="en-US" sz="1300">
                <a:solidFill>
                  <a:srgbClr val="1E2761"/>
                </a:solidFill>
                <a:latin typeface="Calibri"/>
                <a:ea typeface="Calibri"/>
                <a:cs typeface="Calibri"/>
                <a:sym typeface="Calibri"/>
              </a:rPr>
              <a:t> vs. </a:t>
            </a:r>
            <a:r>
              <a:rPr b="0" lang="en-US" sz="1300" u="none" cap="none" strike="noStrike">
                <a:solidFill>
                  <a:srgbClr val="1E2761"/>
                </a:solidFill>
                <a:latin typeface="Calibri"/>
                <a:ea typeface="Calibri"/>
                <a:cs typeface="Calibri"/>
                <a:sym typeface="Calibri"/>
              </a:rPr>
              <a:t>1.2M (0.20%)</a:t>
            </a:r>
            <a:endParaRPr b="0" sz="1300" u="none" cap="none" strike="noStrike">
              <a:solidFill>
                <a:srgbClr val="1E276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sz="1300" u="none" cap="none" strike="noStrike">
              <a:solidFill>
                <a:srgbClr val="1E2761"/>
              </a:solidFill>
              <a:latin typeface="Calibri"/>
              <a:ea typeface="Calibri"/>
              <a:cs typeface="Calibri"/>
              <a:sym typeface="Calibri"/>
            </a:endParaRPr>
          </a:p>
          <a:p>
            <a:pPr indent="0" lvl="0" marL="0" marR="0" rtl="0" algn="l">
              <a:spcBef>
                <a:spcPts val="0"/>
              </a:spcBef>
              <a:spcAft>
                <a:spcPts val="0"/>
              </a:spcAft>
              <a:buClr>
                <a:srgbClr val="64748B"/>
              </a:buClr>
              <a:buSzPts val="1300"/>
              <a:buFont typeface="Calibri"/>
              <a:buNone/>
            </a:pPr>
            <a:r>
              <a:rPr b="1" lang="en-US" sz="1300" u="none" cap="none" strike="noStrike">
                <a:solidFill>
                  <a:srgbClr val="1E2761"/>
                </a:solidFill>
                <a:latin typeface="Calibri"/>
                <a:ea typeface="Calibri"/>
                <a:cs typeface="Calibri"/>
                <a:sym typeface="Calibri"/>
              </a:rPr>
              <a:t>Key finding:</a:t>
            </a:r>
            <a:r>
              <a:rPr b="0" lang="en-US" sz="1300" u="none" cap="none" strike="noStrike">
                <a:solidFill>
                  <a:srgbClr val="1E2761"/>
                </a:solidFill>
                <a:latin typeface="Calibri"/>
                <a:ea typeface="Calibri"/>
                <a:cs typeface="Calibri"/>
                <a:sym typeface="Calibri"/>
              </a:rPr>
              <a:t> </a:t>
            </a:r>
            <a:r>
              <a:rPr lang="en-US" sz="1300">
                <a:solidFill>
                  <a:srgbClr val="1E2761"/>
                </a:solidFill>
                <a:latin typeface="Calibri"/>
                <a:ea typeface="Calibri"/>
                <a:cs typeface="Calibri"/>
                <a:sym typeface="Calibri"/>
              </a:rPr>
              <a:t>The simplest configuration was the best trade-off</a:t>
            </a:r>
            <a:endParaRPr sz="1500">
              <a:solidFill>
                <a:srgbClr val="1E276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12"/>
          <p:cNvSpPr/>
          <p:nvPr/>
        </p:nvSpPr>
        <p:spPr>
          <a:xfrm>
            <a:off x="457200" y="228600"/>
            <a:ext cx="8229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Error Analysis </a:t>
            </a:r>
            <a:r>
              <a:rPr b="1" i="0" lang="en-US" sz="2800" u="none" cap="none" strike="noStrike">
                <a:solidFill>
                  <a:srgbClr val="3730A3"/>
                </a:solidFill>
                <a:latin typeface="Calibri"/>
                <a:ea typeface="Calibri"/>
                <a:cs typeface="Calibri"/>
                <a:sym typeface="Calibri"/>
              </a:rPr>
              <a:t>| </a:t>
            </a:r>
            <a:r>
              <a:rPr b="1" lang="en-US" sz="2400">
                <a:solidFill>
                  <a:srgbClr val="3730A3"/>
                </a:solidFill>
                <a:latin typeface="Calibri"/>
                <a:ea typeface="Calibri"/>
                <a:cs typeface="Calibri"/>
                <a:sym typeface="Calibri"/>
              </a:rPr>
              <a:t>Linguistic-specific</a:t>
            </a:r>
            <a:endParaRPr b="0" i="0" sz="2800" u="none" cap="none" strike="noStrike">
              <a:solidFill>
                <a:srgbClr val="3730A3"/>
              </a:solidFill>
              <a:latin typeface="Calibri"/>
              <a:ea typeface="Calibri"/>
              <a:cs typeface="Calibri"/>
              <a:sym typeface="Calibri"/>
            </a:endParaRPr>
          </a:p>
        </p:txBody>
      </p:sp>
      <p:sp>
        <p:nvSpPr>
          <p:cNvPr id="157" name="Google Shape;157;p12"/>
          <p:cNvSpPr/>
          <p:nvPr/>
        </p:nvSpPr>
        <p:spPr>
          <a:xfrm>
            <a:off x="457200" y="914400"/>
            <a:ext cx="8229600" cy="183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58" name="Google Shape;158;p12"/>
          <p:cNvGraphicFramePr/>
          <p:nvPr/>
        </p:nvGraphicFramePr>
        <p:xfrm>
          <a:off x="457200" y="1132999"/>
          <a:ext cx="3000000" cy="3000000"/>
        </p:xfrm>
        <a:graphic>
          <a:graphicData uri="http://schemas.openxmlformats.org/drawingml/2006/table">
            <a:tbl>
              <a:tblPr>
                <a:noFill/>
                <a:tableStyleId>{EA53279C-7645-44CB-8ED3-BF2F02502B3F}</a:tableStyleId>
              </a:tblPr>
              <a:tblGrid>
                <a:gridCol w="1798075"/>
                <a:gridCol w="1413750"/>
                <a:gridCol w="1583425"/>
                <a:gridCol w="1592350"/>
                <a:gridCol w="1842000"/>
              </a:tblGrid>
              <a:tr h="2548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1A2357"/>
                          </a:solidFill>
                          <a:latin typeface="Calibri"/>
                          <a:ea typeface="Calibri"/>
                          <a:cs typeface="Calibri"/>
                          <a:sym typeface="Calibri"/>
                        </a:rPr>
                        <a:t>Feature</a:t>
                      </a:r>
                      <a:endParaRPr sz="1100" u="none" cap="none" strike="noStrike">
                        <a:solidFill>
                          <a:srgbClr val="1A2357"/>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1A2357"/>
                          </a:solidFill>
                          <a:latin typeface="Calibri"/>
                          <a:ea typeface="Calibri"/>
                          <a:cs typeface="Calibri"/>
                          <a:sym typeface="Calibri"/>
                        </a:rPr>
                        <a:t>Source (cs)</a:t>
                      </a:r>
                      <a:endParaRPr sz="1100" u="none" cap="none" strike="noStrike">
                        <a:solidFill>
                          <a:srgbClr val="1A2357"/>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1A2357"/>
                          </a:solidFill>
                          <a:latin typeface="Calibri"/>
                          <a:ea typeface="Calibri"/>
                          <a:cs typeface="Calibri"/>
                          <a:sym typeface="Calibri"/>
                        </a:rPr>
                        <a:t>Reference (en)</a:t>
                      </a:r>
                      <a:endParaRPr sz="1100" u="none" cap="none" strike="noStrike">
                        <a:solidFill>
                          <a:srgbClr val="1A2357"/>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1A2357"/>
                          </a:solidFill>
                          <a:latin typeface="Calibri"/>
                          <a:ea typeface="Calibri"/>
                          <a:cs typeface="Calibri"/>
                          <a:sym typeface="Calibri"/>
                        </a:rPr>
                        <a:t>System output</a:t>
                      </a:r>
                      <a:endParaRPr sz="1100" u="none" cap="none" strike="noStrike">
                        <a:solidFill>
                          <a:srgbClr val="1A2357"/>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1A2357"/>
                          </a:solidFill>
                          <a:latin typeface="Calibri"/>
                          <a:ea typeface="Calibri"/>
                          <a:cs typeface="Calibri"/>
                          <a:sym typeface="Calibri"/>
                        </a:rPr>
                        <a:t>Observation</a:t>
                      </a:r>
                      <a:endParaRPr sz="1100" u="none" cap="none" strike="noStrike">
                        <a:solidFill>
                          <a:srgbClr val="1A2357"/>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lt1"/>
                    </a:solidFill>
                  </a:tcPr>
                </a:tc>
              </a:tr>
              <a:tr h="585225">
                <a:tc>
                  <a:txBody>
                    <a:bodyPr/>
                    <a:lstStyle/>
                    <a:p>
                      <a:pPr indent="0" lvl="0" marL="0" rtl="0" algn="l">
                        <a:lnSpc>
                          <a:spcPct val="160000"/>
                        </a:lnSpc>
                        <a:spcBef>
                          <a:spcPts val="0"/>
                        </a:spcBef>
                        <a:spcAft>
                          <a:spcPts val="300"/>
                        </a:spcAft>
                        <a:buClr>
                          <a:schemeClr val="dk1"/>
                        </a:buClr>
                        <a:buSzPts val="1100"/>
                        <a:buFont typeface="Arial"/>
                        <a:buNone/>
                      </a:pPr>
                      <a:r>
                        <a:rPr b="1" lang="en-US" sz="1000">
                          <a:solidFill>
                            <a:srgbClr val="1E2761"/>
                          </a:solidFill>
                        </a:rPr>
                        <a:t>P</a:t>
                      </a:r>
                      <a:r>
                        <a:rPr b="1" lang="en-US" sz="1000">
                          <a:solidFill>
                            <a:srgbClr val="1E2761"/>
                          </a:solidFill>
                        </a:rPr>
                        <a:t>roper nouns &amp; named entities</a:t>
                      </a:r>
                      <a:endParaRPr b="1" sz="1100">
                        <a:solidFill>
                          <a:srgbClr val="1E2761"/>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accent2"/>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222222"/>
                          </a:solidFill>
                          <a:highlight>
                            <a:srgbClr val="F7F7FA"/>
                          </a:highlight>
                          <a:latin typeface="Courier New"/>
                          <a:ea typeface="Courier New"/>
                          <a:cs typeface="Courier New"/>
                          <a:sym typeface="Courier New"/>
                        </a:rPr>
                        <a:t>Na </a:t>
                      </a:r>
                      <a:r>
                        <a:rPr b="1" lang="en-US" sz="850">
                          <a:solidFill>
                            <a:srgbClr val="222222"/>
                          </a:solidFill>
                          <a:highlight>
                            <a:srgbClr val="F7F7FA"/>
                          </a:highlight>
                          <a:latin typeface="Courier New"/>
                          <a:ea typeface="Courier New"/>
                          <a:cs typeface="Courier New"/>
                          <a:sym typeface="Courier New"/>
                        </a:rPr>
                        <a:t>Kolínsku</a:t>
                      </a:r>
                      <a:r>
                        <a:rPr lang="en-US" sz="850">
                          <a:solidFill>
                            <a:srgbClr val="222222"/>
                          </a:solidFill>
                          <a:highlight>
                            <a:srgbClr val="F7F7FA"/>
                          </a:highlight>
                          <a:latin typeface="Courier New"/>
                          <a:ea typeface="Courier New"/>
                          <a:cs typeface="Courier New"/>
                          <a:sym typeface="Courier New"/>
                        </a:rPr>
                        <a:t> hořelo pole.</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9FC"/>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C0392B"/>
                          </a:solidFill>
                          <a:highlight>
                            <a:srgbClr val="F7F7FA"/>
                          </a:highlight>
                          <a:latin typeface="Courier New"/>
                          <a:ea typeface="Courier New"/>
                          <a:cs typeface="Courier New"/>
                          <a:sym typeface="Courier New"/>
                        </a:rPr>
                        <a:t>A field was burning in </a:t>
                      </a:r>
                      <a:r>
                        <a:rPr b="1" lang="en-US" sz="850">
                          <a:solidFill>
                            <a:srgbClr val="C0392B"/>
                          </a:solidFill>
                          <a:highlight>
                            <a:srgbClr val="F7F7FA"/>
                          </a:highlight>
                          <a:latin typeface="Courier New"/>
                          <a:ea typeface="Courier New"/>
                          <a:cs typeface="Courier New"/>
                          <a:sym typeface="Courier New"/>
                        </a:rPr>
                        <a:t>Cologne</a:t>
                      </a:r>
                      <a:r>
                        <a:rPr lang="en-US" sz="850">
                          <a:solidFill>
                            <a:srgbClr val="C0392B"/>
                          </a:solidFill>
                          <a:highlight>
                            <a:srgbClr val="F7F7FA"/>
                          </a:highlight>
                          <a:latin typeface="Courier New"/>
                          <a:ea typeface="Courier New"/>
                          <a:cs typeface="Courier New"/>
                          <a:sym typeface="Courier New"/>
                        </a:rPr>
                        <a:t>.</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9FC"/>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222222"/>
                          </a:solidFill>
                          <a:highlight>
                            <a:srgbClr val="F7F7FA"/>
                          </a:highlight>
                          <a:latin typeface="Courier New"/>
                          <a:ea typeface="Courier New"/>
                          <a:cs typeface="Courier New"/>
                          <a:sym typeface="Courier New"/>
                        </a:rPr>
                        <a:t>Fire breaks out in Kolín.</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9FC"/>
                    </a:solidFill>
                  </a:tcPr>
                </a:tc>
                <a:tc>
                  <a:txBody>
                    <a:bodyPr/>
                    <a:lstStyle/>
                    <a:p>
                      <a:pPr indent="0" lvl="0" marL="0" rtl="0" algn="l">
                        <a:lnSpc>
                          <a:spcPct val="160000"/>
                        </a:lnSpc>
                        <a:spcBef>
                          <a:spcPts val="500"/>
                        </a:spcBef>
                        <a:spcAft>
                          <a:spcPts val="0"/>
                        </a:spcAft>
                        <a:buClr>
                          <a:schemeClr val="dk1"/>
                        </a:buClr>
                        <a:buSzPts val="1100"/>
                        <a:buFont typeface="Arial"/>
                        <a:buNone/>
                      </a:pPr>
                      <a:r>
                        <a:rPr b="1" lang="en-US" sz="850">
                          <a:solidFill>
                            <a:srgbClr val="1E2761"/>
                          </a:solidFill>
                        </a:rPr>
                        <a:t>Prefix &amp; IA3 </a:t>
                      </a:r>
                      <a:r>
                        <a:rPr lang="en-US" sz="850">
                          <a:solidFill>
                            <a:srgbClr val="1E2761"/>
                          </a:solidFill>
                        </a:rPr>
                        <a:t>– Kolínsko (Czech region) mistaken for Cologne, Germany</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9FC"/>
                    </a:solidFill>
                  </a:tcPr>
                </a:tc>
              </a:tr>
              <a:tr h="585225">
                <a:tc>
                  <a:txBody>
                    <a:bodyPr/>
                    <a:lstStyle/>
                    <a:p>
                      <a:pPr indent="0" lvl="0" marL="0" rtl="0" algn="l">
                        <a:lnSpc>
                          <a:spcPct val="160000"/>
                        </a:lnSpc>
                        <a:spcBef>
                          <a:spcPts val="0"/>
                        </a:spcBef>
                        <a:spcAft>
                          <a:spcPts val="300"/>
                        </a:spcAft>
                        <a:buClr>
                          <a:schemeClr val="dk1"/>
                        </a:buClr>
                        <a:buSzPts val="1100"/>
                        <a:buFont typeface="Arial"/>
                        <a:buNone/>
                      </a:pPr>
                      <a:r>
                        <a:rPr b="1" lang="en-US" sz="1000">
                          <a:solidFill>
                            <a:srgbClr val="1E2761"/>
                          </a:solidFill>
                        </a:rPr>
                        <a:t>E</a:t>
                      </a:r>
                      <a:r>
                        <a:rPr b="1" lang="en-US" sz="1000">
                          <a:solidFill>
                            <a:srgbClr val="1E2761"/>
                          </a:solidFill>
                        </a:rPr>
                        <a:t>llipsis</a:t>
                      </a:r>
                      <a:endParaRPr b="1"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accent1"/>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222222"/>
                          </a:solidFill>
                          <a:highlight>
                            <a:srgbClr val="F7F7FA"/>
                          </a:highlight>
                          <a:latin typeface="Courier New"/>
                          <a:ea typeface="Courier New"/>
                          <a:cs typeface="Courier New"/>
                          <a:sym typeface="Courier New"/>
                        </a:rPr>
                        <a:t>Ten s dvaceti chudý.</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C0392B"/>
                          </a:solidFill>
                          <a:highlight>
                            <a:srgbClr val="F7F7FA"/>
                          </a:highlight>
                          <a:latin typeface="Courier New"/>
                          <a:ea typeface="Courier New"/>
                          <a:cs typeface="Courier New"/>
                          <a:sym typeface="Courier New"/>
                        </a:rPr>
                        <a:t>The poor guy with 20.</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222222"/>
                          </a:solidFill>
                          <a:highlight>
                            <a:srgbClr val="F7F7FA"/>
                          </a:highlight>
                          <a:latin typeface="Courier New"/>
                          <a:ea typeface="Courier New"/>
                          <a:cs typeface="Courier New"/>
                          <a:sym typeface="Courier New"/>
                        </a:rPr>
                        <a:t>Those earning 20,000 are poor.</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rtl="0" algn="l">
                        <a:lnSpc>
                          <a:spcPct val="160000"/>
                        </a:lnSpc>
                        <a:spcBef>
                          <a:spcPts val="500"/>
                        </a:spcBef>
                        <a:spcAft>
                          <a:spcPts val="0"/>
                        </a:spcAft>
                        <a:buClr>
                          <a:schemeClr val="dk1"/>
                        </a:buClr>
                        <a:buSzPts val="1100"/>
                        <a:buFont typeface="Arial"/>
                        <a:buNone/>
                      </a:pPr>
                      <a:r>
                        <a:rPr b="1" lang="en-US" sz="850">
                          <a:solidFill>
                            <a:srgbClr val="1E2761"/>
                          </a:solidFill>
                        </a:rPr>
                        <a:t>All systems </a:t>
                      </a:r>
                      <a:r>
                        <a:rPr lang="en-US" sz="850">
                          <a:solidFill>
                            <a:srgbClr val="1E2761"/>
                          </a:solidFill>
                        </a:rPr>
                        <a:t>– verb and currency unit missing from source</a:t>
                      </a:r>
                      <a:endParaRPr i="1" sz="1100">
                        <a:solidFill>
                          <a:srgbClr val="1E2761"/>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r h="585225">
                <a:tc>
                  <a:txBody>
                    <a:bodyPr/>
                    <a:lstStyle/>
                    <a:p>
                      <a:pPr indent="0" lvl="0" marL="0" rtl="0" algn="l">
                        <a:lnSpc>
                          <a:spcPct val="160000"/>
                        </a:lnSpc>
                        <a:spcBef>
                          <a:spcPts val="0"/>
                        </a:spcBef>
                        <a:spcAft>
                          <a:spcPts val="300"/>
                        </a:spcAft>
                        <a:buClr>
                          <a:schemeClr val="dk1"/>
                        </a:buClr>
                        <a:buSzPts val="1100"/>
                        <a:buFont typeface="Arial"/>
                        <a:buNone/>
                      </a:pPr>
                      <a:r>
                        <a:rPr b="1" lang="en-US" sz="1000">
                          <a:solidFill>
                            <a:srgbClr val="1E2761"/>
                          </a:solidFill>
                        </a:rPr>
                        <a:t>I</a:t>
                      </a:r>
                      <a:r>
                        <a:rPr b="1" lang="en-US" sz="1000">
                          <a:solidFill>
                            <a:srgbClr val="1E2761"/>
                          </a:solidFill>
                        </a:rPr>
                        <a:t>diomatic expressions</a:t>
                      </a:r>
                      <a:endParaRPr b="1"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accent6"/>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222222"/>
                          </a:solidFill>
                          <a:highlight>
                            <a:srgbClr val="F7F7FA"/>
                          </a:highlight>
                          <a:latin typeface="Courier New"/>
                          <a:ea typeface="Courier New"/>
                          <a:cs typeface="Courier New"/>
                          <a:sym typeface="Courier New"/>
                        </a:rPr>
                        <a:t>Olej do ohně přilévá chudoba.</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9FC"/>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C0392B"/>
                          </a:solidFill>
                          <a:highlight>
                            <a:srgbClr val="F7F7FA"/>
                          </a:highlight>
                          <a:latin typeface="Courier New"/>
                          <a:ea typeface="Courier New"/>
                          <a:cs typeface="Courier New"/>
                          <a:sym typeface="Courier New"/>
                        </a:rPr>
                        <a:t>Olej do ohně přilévá chudoba.</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9FC"/>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222222"/>
                          </a:solidFill>
                          <a:highlight>
                            <a:srgbClr val="F7F7FA"/>
                          </a:highlight>
                          <a:latin typeface="Courier New"/>
                          <a:ea typeface="Courier New"/>
                          <a:cs typeface="Courier New"/>
                          <a:sym typeface="Courier New"/>
                        </a:rPr>
                        <a:t>Poverty feeds the discontent.</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9FC"/>
                    </a:solidFill>
                  </a:tcPr>
                </a:tc>
                <a:tc>
                  <a:txBody>
                    <a:bodyPr/>
                    <a:lstStyle/>
                    <a:p>
                      <a:pPr indent="0" lvl="0" marL="0" rtl="0" algn="l">
                        <a:lnSpc>
                          <a:spcPct val="160000"/>
                        </a:lnSpc>
                        <a:spcBef>
                          <a:spcPts val="500"/>
                        </a:spcBef>
                        <a:spcAft>
                          <a:spcPts val="0"/>
                        </a:spcAft>
                        <a:buClr>
                          <a:schemeClr val="dk1"/>
                        </a:buClr>
                        <a:buSzPts val="1100"/>
                        <a:buFont typeface="Arial"/>
                        <a:buNone/>
                      </a:pPr>
                      <a:r>
                        <a:rPr b="1" lang="en-US" sz="850">
                          <a:solidFill>
                            <a:srgbClr val="1E2761"/>
                          </a:solidFill>
                        </a:rPr>
                        <a:t>Full FT</a:t>
                      </a:r>
                      <a:r>
                        <a:rPr lang="en-US" sz="850">
                          <a:solidFill>
                            <a:srgbClr val="1E2761"/>
                          </a:solidFill>
                        </a:rPr>
                        <a:t> – idiom copied verbatim, not translated</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9FC"/>
                    </a:solidFill>
                  </a:tcPr>
                </a:tc>
              </a:tr>
              <a:tr h="585225">
                <a:tc>
                  <a:txBody>
                    <a:bodyPr/>
                    <a:lstStyle/>
                    <a:p>
                      <a:pPr indent="0" lvl="0" marL="0" rtl="0" algn="l">
                        <a:lnSpc>
                          <a:spcPct val="160000"/>
                        </a:lnSpc>
                        <a:spcBef>
                          <a:spcPts val="0"/>
                        </a:spcBef>
                        <a:spcAft>
                          <a:spcPts val="300"/>
                        </a:spcAft>
                        <a:buClr>
                          <a:schemeClr val="dk1"/>
                        </a:buClr>
                        <a:buSzPts val="1100"/>
                        <a:buFont typeface="Arial"/>
                        <a:buNone/>
                      </a:pPr>
                      <a:r>
                        <a:rPr b="1" lang="en-US" sz="1000">
                          <a:solidFill>
                            <a:srgbClr val="1E2761"/>
                          </a:solidFill>
                        </a:rPr>
                        <a:t>False friends</a:t>
                      </a:r>
                      <a:endParaRPr b="1"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accent4"/>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b="1" lang="en-US" sz="850">
                          <a:solidFill>
                            <a:srgbClr val="222222"/>
                          </a:solidFill>
                          <a:highlight>
                            <a:srgbClr val="F7F7FA"/>
                          </a:highlight>
                          <a:latin typeface="Courier New"/>
                          <a:ea typeface="Courier New"/>
                          <a:cs typeface="Courier New"/>
                          <a:sym typeface="Courier New"/>
                        </a:rPr>
                        <a:t>Fandí</a:t>
                      </a:r>
                      <a:r>
                        <a:rPr lang="en-US" sz="850">
                          <a:solidFill>
                            <a:srgbClr val="222222"/>
                          </a:solidFill>
                          <a:highlight>
                            <a:srgbClr val="F7F7FA"/>
                          </a:highlight>
                          <a:latin typeface="Courier New"/>
                          <a:ea typeface="Courier New"/>
                          <a:cs typeface="Courier New"/>
                          <a:sym typeface="Courier New"/>
                        </a:rPr>
                        <a:t> všichni.</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C0392B"/>
                          </a:solidFill>
                          <a:highlight>
                            <a:srgbClr val="F7F7FA"/>
                          </a:highlight>
                          <a:latin typeface="Courier New"/>
                          <a:ea typeface="Courier New"/>
                          <a:cs typeface="Courier New"/>
                          <a:sym typeface="Courier New"/>
                        </a:rPr>
                        <a:t>They're all </a:t>
                      </a:r>
                      <a:r>
                        <a:rPr b="1" lang="en-US" sz="850">
                          <a:solidFill>
                            <a:srgbClr val="C0392B"/>
                          </a:solidFill>
                          <a:highlight>
                            <a:srgbClr val="F7F7FA"/>
                          </a:highlight>
                          <a:latin typeface="Courier New"/>
                          <a:ea typeface="Courier New"/>
                          <a:cs typeface="Courier New"/>
                          <a:sym typeface="Courier New"/>
                        </a:rPr>
                        <a:t>fanatics</a:t>
                      </a:r>
                      <a:r>
                        <a:rPr lang="en-US" sz="850">
                          <a:solidFill>
                            <a:srgbClr val="C0392B"/>
                          </a:solidFill>
                          <a:highlight>
                            <a:srgbClr val="F7F7FA"/>
                          </a:highlight>
                          <a:latin typeface="Courier New"/>
                          <a:ea typeface="Courier New"/>
                          <a:cs typeface="Courier New"/>
                          <a:sym typeface="Courier New"/>
                        </a:rPr>
                        <a:t>.</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222222"/>
                          </a:solidFill>
                          <a:highlight>
                            <a:srgbClr val="F7F7FA"/>
                          </a:highlight>
                          <a:latin typeface="Courier New"/>
                          <a:ea typeface="Courier New"/>
                          <a:cs typeface="Courier New"/>
                          <a:sym typeface="Courier New"/>
                        </a:rPr>
                        <a:t>Everyone supports them.</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rtl="0" algn="l">
                        <a:lnSpc>
                          <a:spcPct val="160000"/>
                        </a:lnSpc>
                        <a:spcBef>
                          <a:spcPts val="500"/>
                        </a:spcBef>
                        <a:spcAft>
                          <a:spcPts val="0"/>
                        </a:spcAft>
                        <a:buClr>
                          <a:schemeClr val="dk1"/>
                        </a:buClr>
                        <a:buSzPts val="1100"/>
                        <a:buFont typeface="Arial"/>
                        <a:buNone/>
                      </a:pPr>
                      <a:r>
                        <a:rPr b="1" lang="en-US" sz="850">
                          <a:solidFill>
                            <a:srgbClr val="1E2761"/>
                          </a:solidFill>
                        </a:rPr>
                        <a:t>IA3</a:t>
                      </a:r>
                      <a:r>
                        <a:rPr lang="en-US" sz="850">
                          <a:solidFill>
                            <a:srgbClr val="1E2761"/>
                          </a:solidFill>
                        </a:rPr>
                        <a:t> – fandí (to cheer for) confused with fanatik (fanatic)</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r h="585225">
                <a:tc>
                  <a:txBody>
                    <a:bodyPr/>
                    <a:lstStyle/>
                    <a:p>
                      <a:pPr indent="0" lvl="0" marL="0" rtl="0" algn="l">
                        <a:lnSpc>
                          <a:spcPct val="160000"/>
                        </a:lnSpc>
                        <a:spcBef>
                          <a:spcPts val="0"/>
                        </a:spcBef>
                        <a:spcAft>
                          <a:spcPts val="300"/>
                        </a:spcAft>
                        <a:buClr>
                          <a:schemeClr val="dk1"/>
                        </a:buClr>
                        <a:buSzPts val="1100"/>
                        <a:buFont typeface="Arial"/>
                        <a:buNone/>
                      </a:pPr>
                      <a:r>
                        <a:rPr b="1" lang="en-US" sz="1000">
                          <a:solidFill>
                            <a:srgbClr val="1E2761"/>
                          </a:solidFill>
                        </a:rPr>
                        <a:t>M</a:t>
                      </a:r>
                      <a:r>
                        <a:rPr b="1" lang="en-US" sz="1000">
                          <a:solidFill>
                            <a:srgbClr val="1E2761"/>
                          </a:solidFill>
                        </a:rPr>
                        <a:t>issing discourse context</a:t>
                      </a:r>
                      <a:endParaRPr b="1" sz="1000">
                        <a:solidFill>
                          <a:srgbClr val="1E2761"/>
                        </a:solidFill>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accent5"/>
                    </a:solidFill>
                  </a:tcPr>
                </a:tc>
                <a:tc>
                  <a:txBody>
                    <a:bodyPr/>
                    <a:lstStyle/>
                    <a:p>
                      <a:pPr indent="0" lvl="0" marL="0" marR="114300" rtl="0" algn="l">
                        <a:lnSpc>
                          <a:spcPct val="180000"/>
                        </a:lnSpc>
                        <a:spcBef>
                          <a:spcPts val="0"/>
                        </a:spcBef>
                        <a:spcAft>
                          <a:spcPts val="0"/>
                        </a:spcAft>
                        <a:buNone/>
                      </a:pPr>
                      <a:r>
                        <a:rPr lang="en-US" sz="850">
                          <a:solidFill>
                            <a:srgbClr val="222222"/>
                          </a:solidFill>
                          <a:highlight>
                            <a:srgbClr val="F7F7FA"/>
                          </a:highlight>
                          <a:latin typeface="Courier New"/>
                          <a:ea typeface="Courier New"/>
                          <a:cs typeface="Courier New"/>
                          <a:sym typeface="Courier New"/>
                        </a:rPr>
                        <a:t>Jeho podmořská </a:t>
                      </a:r>
                      <a:r>
                        <a:rPr b="1" lang="en-US" sz="850">
                          <a:solidFill>
                            <a:srgbClr val="222222"/>
                          </a:solidFill>
                          <a:highlight>
                            <a:srgbClr val="F7F7FA"/>
                          </a:highlight>
                          <a:latin typeface="Courier New"/>
                          <a:ea typeface="Courier New"/>
                          <a:cs typeface="Courier New"/>
                          <a:sym typeface="Courier New"/>
                        </a:rPr>
                        <a:t>hrobka</a:t>
                      </a:r>
                      <a:r>
                        <a:rPr lang="en-US" sz="850">
                          <a:solidFill>
                            <a:srgbClr val="222222"/>
                          </a:solidFill>
                          <a:highlight>
                            <a:srgbClr val="F7F7FA"/>
                          </a:highlight>
                          <a:latin typeface="Courier New"/>
                          <a:ea typeface="Courier New"/>
                          <a:cs typeface="Courier New"/>
                          <a:sym typeface="Courier New"/>
                        </a:rPr>
                        <a:t> zachovala tělo v dokonalém stavu.</a:t>
                      </a:r>
                      <a:endParaRPr i="1" sz="1100">
                        <a:solidFill>
                          <a:srgbClr val="64748B"/>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C0392B"/>
                          </a:solidFill>
                          <a:highlight>
                            <a:srgbClr val="F7F7FA"/>
                          </a:highlight>
                          <a:latin typeface="Courier New"/>
                          <a:ea typeface="Courier New"/>
                          <a:cs typeface="Courier New"/>
                          <a:sym typeface="Courier New"/>
                        </a:rPr>
                        <a:t>His underwater </a:t>
                      </a:r>
                      <a:r>
                        <a:rPr b="1" lang="en-US" sz="850">
                          <a:solidFill>
                            <a:srgbClr val="C0392B"/>
                          </a:solidFill>
                          <a:highlight>
                            <a:srgbClr val="F7F7FA"/>
                          </a:highlight>
                          <a:latin typeface="Courier New"/>
                          <a:ea typeface="Courier New"/>
                          <a:cs typeface="Courier New"/>
                          <a:sym typeface="Courier New"/>
                        </a:rPr>
                        <a:t>tomb</a:t>
                      </a:r>
                      <a:r>
                        <a:rPr lang="en-US" sz="850">
                          <a:solidFill>
                            <a:srgbClr val="C0392B"/>
                          </a:solidFill>
                          <a:highlight>
                            <a:srgbClr val="F7F7FA"/>
                          </a:highlight>
                          <a:latin typeface="Courier New"/>
                          <a:ea typeface="Courier New"/>
                          <a:cs typeface="Courier New"/>
                          <a:sym typeface="Courier New"/>
                        </a:rPr>
                        <a:t> kept the body in perfect condition.</a:t>
                      </a:r>
                      <a:endParaRPr i="1" sz="1100" u="none" cap="none" strike="noStrike">
                        <a:solidFill>
                          <a:srgbClr val="64748B"/>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114300" rtl="0" algn="l">
                        <a:lnSpc>
                          <a:spcPct val="180000"/>
                        </a:lnSpc>
                        <a:spcBef>
                          <a:spcPts val="0"/>
                        </a:spcBef>
                        <a:spcAft>
                          <a:spcPts val="0"/>
                        </a:spcAft>
                        <a:buClr>
                          <a:schemeClr val="dk1"/>
                        </a:buClr>
                        <a:buSzPts val="1100"/>
                        <a:buFont typeface="Arial"/>
                        <a:buNone/>
                      </a:pPr>
                      <a:r>
                        <a:rPr lang="en-US" sz="850">
                          <a:solidFill>
                            <a:srgbClr val="222222"/>
                          </a:solidFill>
                          <a:highlight>
                            <a:srgbClr val="F7F7FA"/>
                          </a:highlight>
                          <a:latin typeface="Courier New"/>
                          <a:ea typeface="Courier New"/>
                          <a:cs typeface="Courier New"/>
                          <a:sym typeface="Courier New"/>
                        </a:rPr>
                        <a:t>But the dinosaur's undersea burial preserved its armor in exquisite detail.</a:t>
                      </a:r>
                      <a:endParaRPr i="1" sz="1100" u="none" cap="none" strike="noStrike">
                        <a:solidFill>
                          <a:srgbClr val="64748B"/>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rtl="0" algn="l">
                        <a:lnSpc>
                          <a:spcPct val="160000"/>
                        </a:lnSpc>
                        <a:spcBef>
                          <a:spcPts val="500"/>
                        </a:spcBef>
                        <a:spcAft>
                          <a:spcPts val="0"/>
                        </a:spcAft>
                        <a:buClr>
                          <a:schemeClr val="dk1"/>
                        </a:buClr>
                        <a:buSzPts val="1100"/>
                        <a:buFont typeface="Arial"/>
                        <a:buNone/>
                      </a:pPr>
                      <a:r>
                        <a:rPr b="1" lang="en-US" sz="850">
                          <a:solidFill>
                            <a:srgbClr val="1E2761"/>
                          </a:solidFill>
                        </a:rPr>
                        <a:t>All systems </a:t>
                      </a:r>
                      <a:r>
                        <a:rPr lang="en-US" sz="850">
                          <a:solidFill>
                            <a:srgbClr val="1E2761"/>
                          </a:solidFill>
                        </a:rPr>
                        <a:t>- sentence about a dinosaur fossil, not a human</a:t>
                      </a:r>
                      <a:endParaRPr i="1"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13"/>
          <p:cNvSpPr/>
          <p:nvPr/>
        </p:nvSpPr>
        <p:spPr>
          <a:xfrm>
            <a:off x="457200" y="228600"/>
            <a:ext cx="8229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 </a:t>
            </a:r>
            <a:r>
              <a:rPr b="1" lang="en-US" sz="2800">
                <a:solidFill>
                  <a:srgbClr val="3730A3"/>
                </a:solidFill>
                <a:latin typeface="Calibri"/>
                <a:ea typeface="Calibri"/>
                <a:cs typeface="Calibri"/>
                <a:sym typeface="Calibri"/>
              </a:rPr>
              <a:t>Other examples</a:t>
            </a:r>
            <a:endParaRPr b="1" sz="2800">
              <a:solidFill>
                <a:srgbClr val="3730A3"/>
              </a:solidFill>
              <a:latin typeface="Calibri"/>
              <a:ea typeface="Calibri"/>
              <a:cs typeface="Calibri"/>
              <a:sym typeface="Calibri"/>
            </a:endParaRPr>
          </a:p>
        </p:txBody>
      </p:sp>
      <p:sp>
        <p:nvSpPr>
          <p:cNvPr id="165" name="Google Shape;165;p13"/>
          <p:cNvSpPr/>
          <p:nvPr/>
        </p:nvSpPr>
        <p:spPr>
          <a:xfrm>
            <a:off x="457200" y="914400"/>
            <a:ext cx="8229600" cy="183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
          <p:cNvSpPr/>
          <p:nvPr/>
        </p:nvSpPr>
        <p:spPr>
          <a:xfrm>
            <a:off x="457200" y="228600"/>
            <a:ext cx="73200" cy="64020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
          <p:cNvSpPr/>
          <p:nvPr/>
        </p:nvSpPr>
        <p:spPr>
          <a:xfrm>
            <a:off x="2094425" y="1214175"/>
            <a:ext cx="7033500" cy="3474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500">
                <a:solidFill>
                  <a:srgbClr val="1E2761"/>
                </a:solidFill>
              </a:rPr>
              <a:t>Lost in translation - literal nonsense</a:t>
            </a:r>
            <a:br>
              <a:rPr lang="en-US" sz="1100">
                <a:solidFill>
                  <a:srgbClr val="1E2761"/>
                </a:solidFill>
              </a:rPr>
            </a:br>
            <a:br>
              <a:rPr lang="en-US" sz="1100">
                <a:solidFill>
                  <a:srgbClr val="1E2761"/>
                </a:solidFill>
              </a:rPr>
            </a:br>
            <a:r>
              <a:rPr lang="en-US" sz="1200">
                <a:solidFill>
                  <a:srgbClr val="1E2761"/>
                </a:solidFill>
              </a:rPr>
              <a:t>SRC : Volič tápe i šířeji.        (Full FT)</a:t>
            </a:r>
            <a:endParaRPr sz="1200">
              <a:solidFill>
                <a:srgbClr val="1E2761"/>
              </a:solidFill>
            </a:endParaRPr>
          </a:p>
          <a:p>
            <a:pPr indent="0" lvl="0" marL="0" rtl="0" algn="l">
              <a:lnSpc>
                <a:spcPct val="115000"/>
              </a:lnSpc>
              <a:spcBef>
                <a:spcPts val="0"/>
              </a:spcBef>
              <a:spcAft>
                <a:spcPts val="0"/>
              </a:spcAft>
              <a:buClr>
                <a:schemeClr val="dk1"/>
              </a:buClr>
              <a:buSzPts val="1100"/>
              <a:buFont typeface="Arial"/>
              <a:buNone/>
            </a:pPr>
            <a:r>
              <a:rPr lang="en-US" sz="1200">
                <a:solidFill>
                  <a:srgbClr val="1E2761"/>
                </a:solidFill>
              </a:rPr>
              <a:t>HYP : </a:t>
            </a:r>
            <a:r>
              <a:rPr b="1" lang="en-US" sz="1200">
                <a:solidFill>
                  <a:srgbClr val="712B13"/>
                </a:solidFill>
              </a:rPr>
              <a:t>Tapestry volley and spread.</a:t>
            </a:r>
            <a:endParaRPr b="1" sz="1200">
              <a:solidFill>
                <a:srgbClr val="712B13"/>
              </a:solidFill>
            </a:endParaRPr>
          </a:p>
          <a:p>
            <a:pPr indent="0" lvl="0" marL="0" rtl="0" algn="l">
              <a:lnSpc>
                <a:spcPct val="115000"/>
              </a:lnSpc>
              <a:spcBef>
                <a:spcPts val="0"/>
              </a:spcBef>
              <a:spcAft>
                <a:spcPts val="0"/>
              </a:spcAft>
              <a:buClr>
                <a:schemeClr val="dk1"/>
              </a:buClr>
              <a:buSzPts val="1100"/>
              <a:buFont typeface="Arial"/>
              <a:buNone/>
            </a:pPr>
            <a:r>
              <a:rPr lang="en-US" sz="1200">
                <a:solidFill>
                  <a:srgbClr val="1E2761"/>
                </a:solidFill>
              </a:rPr>
              <a:t>REF : The voter is more in the dark than ever.</a:t>
            </a:r>
            <a:br>
              <a:rPr lang="en-US" sz="1200">
                <a:solidFill>
                  <a:srgbClr val="1E2761"/>
                </a:solidFill>
              </a:rPr>
            </a:br>
            <a:endParaRPr sz="1200">
              <a:solidFill>
                <a:srgbClr val="1E2761"/>
              </a:solidFill>
            </a:endParaRPr>
          </a:p>
          <a:p>
            <a:pPr indent="0" lvl="0" marL="0" rtl="0" algn="l">
              <a:lnSpc>
                <a:spcPct val="115000"/>
              </a:lnSpc>
              <a:spcBef>
                <a:spcPts val="0"/>
              </a:spcBef>
              <a:spcAft>
                <a:spcPts val="0"/>
              </a:spcAft>
              <a:buClr>
                <a:schemeClr val="dk1"/>
              </a:buClr>
              <a:buSzPts val="1100"/>
              <a:buFont typeface="Arial"/>
              <a:buNone/>
            </a:pPr>
            <a:r>
              <a:rPr i="1" lang="en-US" sz="1200">
                <a:solidFill>
                  <a:srgbClr val="1E2761"/>
                </a:solidFill>
              </a:rPr>
              <a:t>Tápe</a:t>
            </a:r>
            <a:r>
              <a:rPr lang="en-US" sz="1200">
                <a:solidFill>
                  <a:srgbClr val="1E2761"/>
                </a:solidFill>
              </a:rPr>
              <a:t> means "fumbles/gropes in the dark" → the model apparently saw "tap" and went with tapestry. </a:t>
            </a:r>
            <a:endParaRPr sz="1200">
              <a:solidFill>
                <a:srgbClr val="1E2761"/>
              </a:solidFill>
            </a:endParaRPr>
          </a:p>
          <a:p>
            <a:pPr indent="0" lvl="0" marL="0" marR="0" rtl="0" algn="l">
              <a:spcBef>
                <a:spcPts val="0"/>
              </a:spcBef>
              <a:spcAft>
                <a:spcPts val="0"/>
              </a:spcAft>
              <a:buClr>
                <a:srgbClr val="64748B"/>
              </a:buClr>
              <a:buSzPts val="1300"/>
              <a:buFont typeface="Calibri"/>
              <a:buNone/>
            </a:pPr>
            <a:r>
              <a:t/>
            </a:r>
            <a:endParaRPr i="1" sz="1300">
              <a:solidFill>
                <a:srgbClr val="1E2761"/>
              </a:solidFill>
              <a:latin typeface="Calibri"/>
              <a:ea typeface="Calibri"/>
              <a:cs typeface="Calibri"/>
              <a:sym typeface="Calibri"/>
            </a:endParaRPr>
          </a:p>
          <a:p>
            <a:pPr indent="0" lvl="0" marL="0" marR="0" rtl="0" algn="l">
              <a:spcBef>
                <a:spcPts val="0"/>
              </a:spcBef>
              <a:spcAft>
                <a:spcPts val="0"/>
              </a:spcAft>
              <a:buClr>
                <a:srgbClr val="64748B"/>
              </a:buClr>
              <a:buSzPts val="1300"/>
              <a:buFont typeface="Calibri"/>
              <a:buNone/>
            </a:pPr>
            <a:r>
              <a:t/>
            </a:r>
            <a:endParaRPr i="1" sz="1300">
              <a:solidFill>
                <a:srgbClr val="1E276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US" sz="1500">
                <a:solidFill>
                  <a:srgbClr val="1E2761"/>
                </a:solidFill>
              </a:rPr>
              <a:t>The confident wrong answer</a:t>
            </a:r>
            <a:br>
              <a:rPr b="1" lang="en-US" sz="1200">
                <a:solidFill>
                  <a:srgbClr val="1E2761"/>
                </a:solidFill>
              </a:rPr>
            </a:br>
            <a:br>
              <a:rPr lang="en-US" sz="1200">
                <a:solidFill>
                  <a:srgbClr val="1E2761"/>
                </a:solidFill>
              </a:rPr>
            </a:br>
            <a:r>
              <a:rPr lang="en-US" sz="1200">
                <a:solidFill>
                  <a:srgbClr val="1E2761"/>
                </a:solidFill>
              </a:rPr>
              <a:t>SRC : Dám vám </a:t>
            </a:r>
            <a:r>
              <a:rPr b="1" lang="en-US" sz="1200">
                <a:solidFill>
                  <a:srgbClr val="712B13"/>
                </a:solidFill>
              </a:rPr>
              <a:t>hádanku</a:t>
            </a:r>
            <a:r>
              <a:rPr lang="en-US" sz="1200">
                <a:solidFill>
                  <a:srgbClr val="1E2761"/>
                </a:solidFill>
              </a:rPr>
              <a:t>.            (Full FT)</a:t>
            </a:r>
            <a:br>
              <a:rPr lang="en-US" sz="1200">
                <a:solidFill>
                  <a:srgbClr val="1E2761"/>
                </a:solidFill>
              </a:rPr>
            </a:br>
            <a:r>
              <a:rPr lang="en-US" sz="1200">
                <a:solidFill>
                  <a:srgbClr val="1E2761"/>
                </a:solidFill>
              </a:rPr>
              <a:t>HYP :</a:t>
            </a:r>
            <a:r>
              <a:rPr i="1" lang="en-US" sz="1200">
                <a:solidFill>
                  <a:srgbClr val="1E2761"/>
                </a:solidFill>
              </a:rPr>
              <a:t> </a:t>
            </a:r>
            <a:r>
              <a:rPr lang="en-US" sz="1200">
                <a:solidFill>
                  <a:srgbClr val="1E2761"/>
                </a:solidFill>
              </a:rPr>
              <a:t>I'll give you my </a:t>
            </a:r>
            <a:r>
              <a:rPr b="1" lang="en-US" sz="1200">
                <a:solidFill>
                  <a:srgbClr val="712B13"/>
                </a:solidFill>
              </a:rPr>
              <a:t>back</a:t>
            </a:r>
            <a:r>
              <a:rPr lang="en-US" sz="1200">
                <a:solidFill>
                  <a:srgbClr val="1E2761"/>
                </a:solidFill>
              </a:rPr>
              <a:t>.</a:t>
            </a:r>
            <a:br>
              <a:rPr lang="en-US" sz="1200">
                <a:solidFill>
                  <a:srgbClr val="1E2761"/>
                </a:solidFill>
              </a:rPr>
            </a:br>
            <a:r>
              <a:rPr lang="en-US" sz="1200">
                <a:solidFill>
                  <a:srgbClr val="1E2761"/>
                </a:solidFill>
              </a:rPr>
              <a:t>REF : Here's a puzzle for you.</a:t>
            </a:r>
            <a:endParaRPr sz="1200">
              <a:solidFill>
                <a:srgbClr val="1E2761"/>
              </a:solidFill>
            </a:endParaRPr>
          </a:p>
          <a:p>
            <a:pPr indent="0" lvl="0" marL="0" rtl="0" algn="l">
              <a:spcBef>
                <a:spcPts val="900"/>
              </a:spcBef>
              <a:spcAft>
                <a:spcPts val="0"/>
              </a:spcAft>
              <a:buClr>
                <a:schemeClr val="dk1"/>
              </a:buClr>
              <a:buSzPts val="1100"/>
              <a:buFont typeface="Arial"/>
              <a:buNone/>
            </a:pPr>
            <a:r>
              <a:rPr i="1" lang="en-US" sz="1200">
                <a:solidFill>
                  <a:srgbClr val="1E2761"/>
                </a:solidFill>
              </a:rPr>
              <a:t>Hádanku = riddle</a:t>
            </a:r>
            <a:r>
              <a:rPr lang="en-US" sz="1200">
                <a:solidFill>
                  <a:srgbClr val="1E2761"/>
                </a:solidFill>
              </a:rPr>
              <a:t>. The model decided it means "my back". Very confident, very wrong.</a:t>
            </a:r>
            <a:endParaRPr sz="1200">
              <a:solidFill>
                <a:srgbClr val="1E2761"/>
              </a:solidFill>
            </a:endParaRPr>
          </a:p>
          <a:p>
            <a:pPr indent="0" lvl="0" marL="0" marR="0" rtl="0" algn="l">
              <a:spcBef>
                <a:spcPts val="0"/>
              </a:spcBef>
              <a:spcAft>
                <a:spcPts val="0"/>
              </a:spcAft>
              <a:buClr>
                <a:srgbClr val="64748B"/>
              </a:buClr>
              <a:buSzPts val="1300"/>
              <a:buFont typeface="Calibri"/>
              <a:buNone/>
            </a:pPr>
            <a:r>
              <a:t/>
            </a:r>
            <a:endParaRPr i="1" sz="1300">
              <a:solidFill>
                <a:srgbClr val="1E2761"/>
              </a:solidFill>
              <a:latin typeface="Calibri"/>
              <a:ea typeface="Calibri"/>
              <a:cs typeface="Calibri"/>
              <a:sym typeface="Calibri"/>
            </a:endParaRPr>
          </a:p>
        </p:txBody>
      </p:sp>
      <p:cxnSp>
        <p:nvCxnSpPr>
          <p:cNvPr id="168" name="Google Shape;168;p13"/>
          <p:cNvCxnSpPr>
            <a:endCxn id="167" idx="3"/>
          </p:cNvCxnSpPr>
          <p:nvPr/>
        </p:nvCxnSpPr>
        <p:spPr>
          <a:xfrm flipH="1" rot="10800000">
            <a:off x="185225" y="2951475"/>
            <a:ext cx="8942700" cy="9900"/>
          </a:xfrm>
          <a:prstGeom prst="straightConnector1">
            <a:avLst/>
          </a:prstGeom>
          <a:noFill/>
          <a:ln cap="flat" cmpd="sng" w="9525">
            <a:solidFill>
              <a:schemeClr val="dk2"/>
            </a:solidFill>
            <a:prstDash val="dot"/>
            <a:round/>
            <a:headEnd len="med" w="med" type="none"/>
            <a:tailEnd len="med" w="med" type="none"/>
          </a:ln>
        </p:spPr>
      </p:cxnSp>
      <p:pic>
        <p:nvPicPr>
          <p:cNvPr id="169" name="Google Shape;169;p13"/>
          <p:cNvPicPr preferRelativeResize="0"/>
          <p:nvPr/>
        </p:nvPicPr>
        <p:blipFill>
          <a:blip r:embed="rId3">
            <a:alphaModFix/>
          </a:blip>
          <a:stretch>
            <a:fillRect/>
          </a:stretch>
        </p:blipFill>
        <p:spPr>
          <a:xfrm>
            <a:off x="457200" y="1344150"/>
            <a:ext cx="1241100" cy="1241100"/>
          </a:xfrm>
          <a:prstGeom prst="rect">
            <a:avLst/>
          </a:prstGeom>
          <a:noFill/>
          <a:ln>
            <a:noFill/>
          </a:ln>
        </p:spPr>
      </p:pic>
      <p:pic>
        <p:nvPicPr>
          <p:cNvPr id="170" name="Google Shape;170;p13"/>
          <p:cNvPicPr preferRelativeResize="0"/>
          <p:nvPr/>
        </p:nvPicPr>
        <p:blipFill>
          <a:blip r:embed="rId4">
            <a:alphaModFix/>
          </a:blip>
          <a:stretch>
            <a:fillRect/>
          </a:stretch>
        </p:blipFill>
        <p:spPr>
          <a:xfrm>
            <a:off x="530400" y="3435225"/>
            <a:ext cx="1055575" cy="1055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14"/>
          <p:cNvSpPr/>
          <p:nvPr/>
        </p:nvSpPr>
        <p:spPr>
          <a:xfrm>
            <a:off x="457200" y="228600"/>
            <a:ext cx="8229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 </a:t>
            </a:r>
            <a:r>
              <a:rPr b="1" lang="en-US" sz="2800">
                <a:solidFill>
                  <a:srgbClr val="3730A3"/>
                </a:solidFill>
                <a:latin typeface="Calibri"/>
                <a:ea typeface="Calibri"/>
                <a:cs typeface="Calibri"/>
                <a:sym typeface="Calibri"/>
              </a:rPr>
              <a:t>Other examples</a:t>
            </a:r>
            <a:endParaRPr b="1" sz="2800">
              <a:solidFill>
                <a:srgbClr val="3730A3"/>
              </a:solidFill>
              <a:latin typeface="Calibri"/>
              <a:ea typeface="Calibri"/>
              <a:cs typeface="Calibri"/>
              <a:sym typeface="Calibri"/>
            </a:endParaRPr>
          </a:p>
        </p:txBody>
      </p:sp>
      <p:sp>
        <p:nvSpPr>
          <p:cNvPr id="177" name="Google Shape;177;p14"/>
          <p:cNvSpPr/>
          <p:nvPr/>
        </p:nvSpPr>
        <p:spPr>
          <a:xfrm>
            <a:off x="457200" y="914400"/>
            <a:ext cx="8229600" cy="183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nvSpPr>
        <p:spPr>
          <a:xfrm>
            <a:off x="457200" y="228600"/>
            <a:ext cx="73200" cy="64020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
          <p:cNvSpPr/>
          <p:nvPr/>
        </p:nvSpPr>
        <p:spPr>
          <a:xfrm>
            <a:off x="2484075" y="1214175"/>
            <a:ext cx="6250500" cy="3831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500">
                <a:solidFill>
                  <a:srgbClr val="1E2761"/>
                </a:solidFill>
              </a:rPr>
              <a:t>The existential crisis</a:t>
            </a:r>
            <a:endParaRPr sz="1500">
              <a:solidFill>
                <a:srgbClr val="1E2761"/>
              </a:solidFill>
            </a:endParaRPr>
          </a:p>
          <a:p>
            <a:pPr indent="0" lvl="0" marL="0" rtl="0" algn="l">
              <a:spcBef>
                <a:spcPts val="0"/>
              </a:spcBef>
              <a:spcAft>
                <a:spcPts val="0"/>
              </a:spcAft>
              <a:buClr>
                <a:schemeClr val="dk1"/>
              </a:buClr>
              <a:buSzPts val="1100"/>
              <a:buFont typeface="Arial"/>
              <a:buNone/>
            </a:pPr>
            <a:r>
              <a:t/>
            </a:r>
            <a:endParaRPr sz="1500">
              <a:solidFill>
                <a:srgbClr val="1E2761"/>
              </a:solidFill>
            </a:endParaRPr>
          </a:p>
          <a:p>
            <a:pPr indent="0" lvl="0" marL="0" rtl="0" algn="l">
              <a:lnSpc>
                <a:spcPct val="115000"/>
              </a:lnSpc>
              <a:spcBef>
                <a:spcPts val="0"/>
              </a:spcBef>
              <a:spcAft>
                <a:spcPts val="0"/>
              </a:spcAft>
              <a:buClr>
                <a:schemeClr val="dk1"/>
              </a:buClr>
              <a:buSzPts val="1100"/>
              <a:buFont typeface="Arial"/>
              <a:buNone/>
            </a:pPr>
            <a:r>
              <a:rPr lang="en-US" sz="1200">
                <a:solidFill>
                  <a:srgbClr val="1E2761"/>
                </a:solidFill>
              </a:rPr>
              <a:t>SRC : A moje </a:t>
            </a:r>
            <a:r>
              <a:rPr b="1" lang="en-US" sz="1200">
                <a:solidFill>
                  <a:srgbClr val="3730A3"/>
                </a:solidFill>
              </a:rPr>
              <a:t>úvodní řeč</a:t>
            </a:r>
            <a:r>
              <a:rPr lang="en-US" sz="1200">
                <a:solidFill>
                  <a:srgbClr val="1E2761"/>
                </a:solidFill>
              </a:rPr>
              <a:t>?          (Full FT)</a:t>
            </a:r>
            <a:endParaRPr sz="1200">
              <a:solidFill>
                <a:srgbClr val="1E2761"/>
              </a:solidFill>
            </a:endParaRPr>
          </a:p>
          <a:p>
            <a:pPr indent="0" lvl="0" marL="0" rtl="0" algn="l">
              <a:lnSpc>
                <a:spcPct val="115000"/>
              </a:lnSpc>
              <a:spcBef>
                <a:spcPts val="0"/>
              </a:spcBef>
              <a:spcAft>
                <a:spcPts val="0"/>
              </a:spcAft>
              <a:buClr>
                <a:schemeClr val="dk1"/>
              </a:buClr>
              <a:buSzPts val="1100"/>
              <a:buFont typeface="Arial"/>
              <a:buNone/>
            </a:pPr>
            <a:r>
              <a:rPr lang="en-US" sz="1200">
                <a:solidFill>
                  <a:srgbClr val="1E2761"/>
                </a:solidFill>
              </a:rPr>
              <a:t>HYP : What's my </a:t>
            </a:r>
            <a:r>
              <a:rPr b="1" lang="en-US" sz="1200">
                <a:solidFill>
                  <a:srgbClr val="712B13"/>
                </a:solidFill>
              </a:rPr>
              <a:t>first language</a:t>
            </a:r>
            <a:r>
              <a:rPr lang="en-US" sz="1200">
                <a:solidFill>
                  <a:srgbClr val="1E2761"/>
                </a:solidFill>
              </a:rPr>
              <a:t>?</a:t>
            </a:r>
            <a:endParaRPr sz="1200">
              <a:solidFill>
                <a:srgbClr val="1E2761"/>
              </a:solidFill>
            </a:endParaRPr>
          </a:p>
          <a:p>
            <a:pPr indent="0" lvl="0" marL="0" rtl="0" algn="l">
              <a:lnSpc>
                <a:spcPct val="115000"/>
              </a:lnSpc>
              <a:spcBef>
                <a:spcPts val="0"/>
              </a:spcBef>
              <a:spcAft>
                <a:spcPts val="0"/>
              </a:spcAft>
              <a:buClr>
                <a:schemeClr val="dk1"/>
              </a:buClr>
              <a:buSzPts val="1100"/>
              <a:buFont typeface="Arial"/>
              <a:buNone/>
            </a:pPr>
            <a:r>
              <a:rPr lang="en-US" sz="1200">
                <a:solidFill>
                  <a:srgbClr val="1E2761"/>
                </a:solidFill>
              </a:rPr>
              <a:t>REF : As for my captain's speech?</a:t>
            </a:r>
            <a:endParaRPr sz="1200">
              <a:solidFill>
                <a:srgbClr val="1E2761"/>
              </a:solidFill>
            </a:endParaRPr>
          </a:p>
          <a:p>
            <a:pPr indent="0" lvl="0" marL="0" rtl="0" algn="l">
              <a:spcBef>
                <a:spcPts val="0"/>
              </a:spcBef>
              <a:spcAft>
                <a:spcPts val="0"/>
              </a:spcAft>
              <a:buClr>
                <a:schemeClr val="dk1"/>
              </a:buClr>
              <a:buSzPts val="1100"/>
              <a:buFont typeface="Arial"/>
              <a:buNone/>
            </a:pPr>
            <a:r>
              <a:t/>
            </a:r>
            <a:endParaRPr sz="1200">
              <a:solidFill>
                <a:srgbClr val="1E2761"/>
              </a:solidFill>
            </a:endParaRPr>
          </a:p>
          <a:p>
            <a:pPr indent="0" lvl="0" marL="0" rtl="0" algn="l">
              <a:lnSpc>
                <a:spcPct val="115000"/>
              </a:lnSpc>
              <a:spcBef>
                <a:spcPts val="0"/>
              </a:spcBef>
              <a:spcAft>
                <a:spcPts val="0"/>
              </a:spcAft>
              <a:buClr>
                <a:schemeClr val="dk1"/>
              </a:buClr>
              <a:buSzPts val="1100"/>
              <a:buFont typeface="Arial"/>
              <a:buNone/>
            </a:pPr>
            <a:r>
              <a:rPr lang="en-US" sz="1200">
                <a:solidFill>
                  <a:srgbClr val="1E2761"/>
                </a:solidFill>
              </a:rPr>
              <a:t>A question about an </a:t>
            </a:r>
            <a:r>
              <a:rPr b="1" lang="en-US" sz="1200">
                <a:solidFill>
                  <a:srgbClr val="3730A3"/>
                </a:solidFill>
              </a:rPr>
              <a:t>opening speech</a:t>
            </a:r>
            <a:r>
              <a:rPr lang="en-US" sz="1200">
                <a:solidFill>
                  <a:srgbClr val="1E2761"/>
                </a:solidFill>
              </a:rPr>
              <a:t> turned into an identity crisis</a:t>
            </a:r>
            <a:br>
              <a:rPr lang="en-US" sz="1100">
                <a:solidFill>
                  <a:srgbClr val="1E2761"/>
                </a:solidFill>
              </a:rPr>
            </a:br>
            <a:br>
              <a:rPr lang="en-US" sz="1100">
                <a:solidFill>
                  <a:srgbClr val="1E2761"/>
                </a:solidFill>
              </a:rPr>
            </a:br>
            <a:endParaRPr sz="1100">
              <a:solidFill>
                <a:srgbClr val="1E2761"/>
              </a:solidFill>
            </a:endParaRPr>
          </a:p>
          <a:p>
            <a:pPr indent="0" lvl="0" marL="0" rtl="0" algn="l">
              <a:lnSpc>
                <a:spcPct val="115000"/>
              </a:lnSpc>
              <a:spcBef>
                <a:spcPts val="0"/>
              </a:spcBef>
              <a:spcAft>
                <a:spcPts val="0"/>
              </a:spcAft>
              <a:buClr>
                <a:schemeClr val="dk1"/>
              </a:buClr>
              <a:buSzPts val="1100"/>
              <a:buFont typeface="Arial"/>
              <a:buNone/>
            </a:pPr>
            <a:r>
              <a:rPr b="1" lang="en-US" sz="1500">
                <a:solidFill>
                  <a:srgbClr val="1E2761"/>
                </a:solidFill>
              </a:rPr>
              <a:t>The supporter becomes a fanatic</a:t>
            </a:r>
            <a:br>
              <a:rPr b="1" lang="en-US" sz="1100">
                <a:solidFill>
                  <a:srgbClr val="1E2761"/>
                </a:solidFill>
              </a:rPr>
            </a:br>
            <a:endParaRPr b="1" sz="1100">
              <a:solidFill>
                <a:srgbClr val="1E2761"/>
              </a:solidFill>
            </a:endParaRPr>
          </a:p>
          <a:p>
            <a:pPr indent="0" lvl="0" marL="0" rtl="0" algn="l">
              <a:lnSpc>
                <a:spcPct val="115000"/>
              </a:lnSpc>
              <a:spcBef>
                <a:spcPts val="0"/>
              </a:spcBef>
              <a:spcAft>
                <a:spcPts val="0"/>
              </a:spcAft>
              <a:buClr>
                <a:schemeClr val="dk1"/>
              </a:buClr>
              <a:buSzPts val="1100"/>
              <a:buFont typeface="Arial"/>
              <a:buNone/>
            </a:pPr>
            <a:r>
              <a:rPr lang="en-US" sz="1200">
                <a:solidFill>
                  <a:srgbClr val="1E2761"/>
                </a:solidFill>
              </a:rPr>
              <a:t>SRC : </a:t>
            </a:r>
            <a:r>
              <a:rPr b="1" lang="en-US" sz="1200">
                <a:solidFill>
                  <a:srgbClr val="3730A3"/>
                </a:solidFill>
              </a:rPr>
              <a:t>Fandí</a:t>
            </a:r>
            <a:r>
              <a:rPr lang="en-US" sz="1200">
                <a:solidFill>
                  <a:srgbClr val="3730A3"/>
                </a:solidFill>
              </a:rPr>
              <a:t> </a:t>
            </a:r>
            <a:r>
              <a:rPr lang="en-US" sz="1200">
                <a:solidFill>
                  <a:srgbClr val="1E2761"/>
                </a:solidFill>
              </a:rPr>
              <a:t>všichni.              (IA3)</a:t>
            </a:r>
            <a:endParaRPr sz="1200">
              <a:solidFill>
                <a:srgbClr val="1E2761"/>
              </a:solidFill>
            </a:endParaRPr>
          </a:p>
          <a:p>
            <a:pPr indent="0" lvl="0" marL="0" rtl="0" algn="l">
              <a:lnSpc>
                <a:spcPct val="115000"/>
              </a:lnSpc>
              <a:spcBef>
                <a:spcPts val="0"/>
              </a:spcBef>
              <a:spcAft>
                <a:spcPts val="0"/>
              </a:spcAft>
              <a:buClr>
                <a:schemeClr val="dk1"/>
              </a:buClr>
              <a:buSzPts val="1100"/>
              <a:buFont typeface="Arial"/>
              <a:buNone/>
            </a:pPr>
            <a:r>
              <a:rPr lang="en-US" sz="1200">
                <a:solidFill>
                  <a:srgbClr val="1E2761"/>
                </a:solidFill>
              </a:rPr>
              <a:t>HYP : They're all </a:t>
            </a:r>
            <a:r>
              <a:rPr b="1" lang="en-US" sz="1200">
                <a:solidFill>
                  <a:srgbClr val="712B13"/>
                </a:solidFill>
              </a:rPr>
              <a:t>fanatics</a:t>
            </a:r>
            <a:r>
              <a:rPr lang="en-US" sz="1200">
                <a:solidFill>
                  <a:srgbClr val="1E2761"/>
                </a:solidFill>
              </a:rPr>
              <a:t>.</a:t>
            </a:r>
            <a:endParaRPr sz="1200">
              <a:solidFill>
                <a:srgbClr val="1E2761"/>
              </a:solidFill>
            </a:endParaRPr>
          </a:p>
          <a:p>
            <a:pPr indent="0" lvl="0" marL="0" rtl="0" algn="l">
              <a:lnSpc>
                <a:spcPct val="115000"/>
              </a:lnSpc>
              <a:spcBef>
                <a:spcPts val="0"/>
              </a:spcBef>
              <a:spcAft>
                <a:spcPts val="0"/>
              </a:spcAft>
              <a:buClr>
                <a:schemeClr val="dk1"/>
              </a:buClr>
              <a:buSzPts val="1100"/>
              <a:buFont typeface="Arial"/>
              <a:buNone/>
            </a:pPr>
            <a:r>
              <a:rPr lang="en-US" sz="1200">
                <a:solidFill>
                  <a:srgbClr val="1E2761"/>
                </a:solidFill>
              </a:rPr>
              <a:t>REF : Everyone supports them.</a:t>
            </a:r>
            <a:br>
              <a:rPr lang="en-US" sz="1200">
                <a:solidFill>
                  <a:srgbClr val="1E2761"/>
                </a:solidFill>
              </a:rPr>
            </a:br>
            <a:endParaRPr sz="1200">
              <a:solidFill>
                <a:srgbClr val="1E2761"/>
              </a:solidFill>
            </a:endParaRPr>
          </a:p>
          <a:p>
            <a:pPr indent="0" lvl="0" marL="0" rtl="0" algn="l">
              <a:spcBef>
                <a:spcPts val="0"/>
              </a:spcBef>
              <a:spcAft>
                <a:spcPts val="0"/>
              </a:spcAft>
              <a:buClr>
                <a:schemeClr val="dk1"/>
              </a:buClr>
              <a:buSzPts val="1100"/>
              <a:buFont typeface="Arial"/>
              <a:buNone/>
            </a:pPr>
            <a:r>
              <a:rPr i="1" lang="en-US" sz="1200">
                <a:solidFill>
                  <a:srgbClr val="1E2761"/>
                </a:solidFill>
              </a:rPr>
              <a:t>Fandí = to cheer for/support. </a:t>
            </a:r>
            <a:endParaRPr i="1" sz="1200">
              <a:solidFill>
                <a:srgbClr val="1E2761"/>
              </a:solidFill>
            </a:endParaRPr>
          </a:p>
          <a:p>
            <a:pPr indent="0" lvl="0" marL="0" rtl="0" algn="l">
              <a:spcBef>
                <a:spcPts val="0"/>
              </a:spcBef>
              <a:spcAft>
                <a:spcPts val="0"/>
              </a:spcAft>
              <a:buClr>
                <a:schemeClr val="dk1"/>
              </a:buClr>
              <a:buSzPts val="1100"/>
              <a:buFont typeface="Arial"/>
              <a:buNone/>
            </a:pPr>
            <a:r>
              <a:rPr lang="en-US" sz="1200">
                <a:solidFill>
                  <a:srgbClr val="1E2761"/>
                </a:solidFill>
              </a:rPr>
              <a:t>IA3 turned a wholesome crowd of supporters into a mob of fanatics.</a:t>
            </a:r>
            <a:endParaRPr sz="1200">
              <a:solidFill>
                <a:srgbClr val="1E2761"/>
              </a:solidFill>
            </a:endParaRPr>
          </a:p>
          <a:p>
            <a:pPr indent="0" lvl="0" marL="0" rtl="0" algn="l">
              <a:spcBef>
                <a:spcPts val="0"/>
              </a:spcBef>
              <a:spcAft>
                <a:spcPts val="0"/>
              </a:spcAft>
              <a:buClr>
                <a:schemeClr val="dk1"/>
              </a:buClr>
              <a:buSzPts val="1100"/>
              <a:buFont typeface="Arial"/>
              <a:buNone/>
            </a:pPr>
            <a:r>
              <a:t/>
            </a:r>
            <a:endParaRPr sz="1100">
              <a:solidFill>
                <a:srgbClr val="1E2761"/>
              </a:solidFill>
            </a:endParaRPr>
          </a:p>
        </p:txBody>
      </p:sp>
      <p:cxnSp>
        <p:nvCxnSpPr>
          <p:cNvPr id="180" name="Google Shape;180;p14"/>
          <p:cNvCxnSpPr/>
          <p:nvPr/>
        </p:nvCxnSpPr>
        <p:spPr>
          <a:xfrm flipH="1" rot="10800000">
            <a:off x="282500" y="2951350"/>
            <a:ext cx="8718600" cy="19800"/>
          </a:xfrm>
          <a:prstGeom prst="straightConnector1">
            <a:avLst/>
          </a:prstGeom>
          <a:noFill/>
          <a:ln cap="flat" cmpd="sng" w="9525">
            <a:solidFill>
              <a:schemeClr val="dk2"/>
            </a:solidFill>
            <a:prstDash val="dot"/>
            <a:round/>
            <a:headEnd len="med" w="med" type="none"/>
            <a:tailEnd len="med" w="med" type="none"/>
          </a:ln>
        </p:spPr>
      </p:cxnSp>
      <p:pic>
        <p:nvPicPr>
          <p:cNvPr id="181" name="Google Shape;181;p14"/>
          <p:cNvPicPr preferRelativeResize="0"/>
          <p:nvPr/>
        </p:nvPicPr>
        <p:blipFill>
          <a:blip r:embed="rId3">
            <a:alphaModFix/>
          </a:blip>
          <a:stretch>
            <a:fillRect/>
          </a:stretch>
        </p:blipFill>
        <p:spPr>
          <a:xfrm>
            <a:off x="457200" y="3039150"/>
            <a:ext cx="1766250" cy="1766250"/>
          </a:xfrm>
          <a:prstGeom prst="rect">
            <a:avLst/>
          </a:prstGeom>
          <a:noFill/>
          <a:ln>
            <a:noFill/>
          </a:ln>
        </p:spPr>
      </p:pic>
      <p:pic>
        <p:nvPicPr>
          <p:cNvPr id="182" name="Google Shape;182;p14"/>
          <p:cNvPicPr preferRelativeResize="0"/>
          <p:nvPr/>
        </p:nvPicPr>
        <p:blipFill>
          <a:blip r:embed="rId4">
            <a:alphaModFix/>
          </a:blip>
          <a:stretch>
            <a:fillRect/>
          </a:stretch>
        </p:blipFill>
        <p:spPr>
          <a:xfrm>
            <a:off x="712925" y="1358500"/>
            <a:ext cx="1254825" cy="12548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15"/>
          <p:cNvSpPr/>
          <p:nvPr/>
        </p:nvSpPr>
        <p:spPr>
          <a:xfrm>
            <a:off x="457200" y="228600"/>
            <a:ext cx="8229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Conclusion</a:t>
            </a:r>
            <a:endParaRPr b="0" i="0" sz="2800" u="none" cap="none" strike="noStrike">
              <a:solidFill>
                <a:schemeClr val="dk1"/>
              </a:solidFill>
              <a:latin typeface="Calibri"/>
              <a:ea typeface="Calibri"/>
              <a:cs typeface="Calibri"/>
              <a:sym typeface="Calibri"/>
            </a:endParaRPr>
          </a:p>
        </p:txBody>
      </p:sp>
      <p:sp>
        <p:nvSpPr>
          <p:cNvPr id="189" name="Google Shape;189;p15"/>
          <p:cNvSpPr/>
          <p:nvPr/>
        </p:nvSpPr>
        <p:spPr>
          <a:xfrm>
            <a:off x="457200" y="914400"/>
            <a:ext cx="8229600" cy="183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391975" y="1097280"/>
            <a:ext cx="8229600" cy="3474600"/>
          </a:xfrm>
          <a:prstGeom prst="rect">
            <a:avLst/>
          </a:prstGeom>
          <a:noFill/>
          <a:ln>
            <a:noFill/>
          </a:ln>
        </p:spPr>
        <p:txBody>
          <a:bodyPr anchorCtr="0" anchor="t" bIns="45700" lIns="91425" spcFirstLastPara="1" rIns="91425" wrap="square" tIns="45700">
            <a:noAutofit/>
          </a:bodyPr>
          <a:lstStyle/>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PEFT methods match or closely approach full fine-tuning quality</a:t>
            </a:r>
            <a:r>
              <a:rPr lang="en-US" sz="1600">
                <a:solidFill>
                  <a:schemeClr val="dk1"/>
                </a:solidFill>
              </a:rPr>
              <a:t> for Czech-to-English translation, achieving competitive BLEU, chrF, and COMET scores while updating only a tiny fraction of model parameters.</a:t>
            </a:r>
            <a:endParaRPr sz="1600">
              <a:solidFill>
                <a:schemeClr val="dk1"/>
              </a:solidFill>
            </a:endParaRPr>
          </a:p>
          <a:p>
            <a:pPr indent="0" lvl="0" marL="457200" rtl="0" algn="l">
              <a:lnSpc>
                <a:spcPct val="115000"/>
              </a:lnSpc>
              <a:spcBef>
                <a:spcPts val="0"/>
              </a:spcBef>
              <a:spcAft>
                <a:spcPts val="0"/>
              </a:spcAft>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Parameter efficiency:</a:t>
            </a:r>
            <a:r>
              <a:rPr lang="en-US" sz="1600">
                <a:solidFill>
                  <a:schemeClr val="dk1"/>
                </a:solidFill>
              </a:rPr>
              <a:t> LoRA, IA³, and Prefix Tuning update </a:t>
            </a:r>
            <a:r>
              <a:rPr b="1" lang="en-US" sz="1600">
                <a:solidFill>
                  <a:schemeClr val="dk1"/>
                </a:solidFill>
              </a:rPr>
              <a:t>less than 0.2%</a:t>
            </a:r>
            <a:r>
              <a:rPr lang="en-US" sz="1600">
                <a:solidFill>
                  <a:schemeClr val="dk1"/>
                </a:solidFill>
              </a:rPr>
              <a:t> of the parameters in NLLB-200-distilled-600M, substantially reducing training costs and memory requirements compared to full fine-tuning.</a:t>
            </a:r>
            <a:endParaRPr sz="1600">
              <a:solidFill>
                <a:schemeClr val="dk1"/>
              </a:solidFill>
            </a:endParaRPr>
          </a:p>
          <a:p>
            <a:pPr indent="0" lvl="0" marL="457200" rtl="0" algn="l">
              <a:lnSpc>
                <a:spcPct val="115000"/>
              </a:lnSpc>
              <a:spcBef>
                <a:spcPts val="0"/>
              </a:spcBef>
              <a:spcAft>
                <a:spcPts val="0"/>
              </a:spcAft>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Practical takeaway:</a:t>
            </a:r>
            <a:r>
              <a:rPr lang="en-US" sz="1600">
                <a:solidFill>
                  <a:schemeClr val="dk1"/>
                </a:solidFill>
              </a:rPr>
              <a:t> For low-resource adaptation and limited computational budgets, </a:t>
            </a:r>
            <a:r>
              <a:rPr b="1" lang="en-US" sz="1600">
                <a:solidFill>
                  <a:schemeClr val="dk1"/>
                </a:solidFill>
              </a:rPr>
              <a:t>PEFT methods provide a highly effective alternative to full fine-tuning</a:t>
            </a:r>
            <a:r>
              <a:rPr lang="en-US" sz="1600">
                <a:solidFill>
                  <a:schemeClr val="dk1"/>
                </a:solidFill>
              </a:rPr>
              <a:t>. Among the methods tested, </a:t>
            </a:r>
            <a:r>
              <a:rPr b="1" lang="en-US" sz="1600">
                <a:solidFill>
                  <a:schemeClr val="dk1"/>
                </a:solidFill>
              </a:rPr>
              <a:t>LoRA offers the strongest overall performance</a:t>
            </a:r>
            <a:r>
              <a:rPr lang="en-US" sz="1600">
                <a:solidFill>
                  <a:schemeClr val="dk1"/>
                </a:solidFill>
              </a:rPr>
              <a:t>, while </a:t>
            </a:r>
            <a:r>
              <a:rPr b="1" lang="en-US" sz="1600">
                <a:solidFill>
                  <a:schemeClr val="dk1"/>
                </a:solidFill>
              </a:rPr>
              <a:t>Prefix Tuning provides an attractive balance between translation quality and parameter efficiency</a:t>
            </a:r>
            <a:r>
              <a:rPr lang="en-US" sz="1600">
                <a:solidFill>
                  <a:schemeClr val="dk1"/>
                </a:solidFill>
              </a:rPr>
              <a:t>.</a:t>
            </a:r>
            <a:endParaRPr sz="1600">
              <a:solidFill>
                <a:schemeClr val="dk1"/>
              </a:solidFill>
            </a:endParaRPr>
          </a:p>
          <a:p>
            <a:pPr indent="0" lvl="0" marL="0" marR="0" rtl="0" algn="l">
              <a:spcBef>
                <a:spcPts val="0"/>
              </a:spcBef>
              <a:spcAft>
                <a:spcPts val="0"/>
              </a:spcAft>
              <a:buClr>
                <a:srgbClr val="64748B"/>
              </a:buClr>
              <a:buSzPts val="1300"/>
              <a:buFont typeface="Calibri"/>
              <a:buNone/>
            </a:pPr>
            <a:r>
              <a:t/>
            </a:r>
            <a:endParaRPr sz="13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95" name="Shape 195"/>
        <p:cNvGrpSpPr/>
        <p:nvPr/>
      </p:nvGrpSpPr>
      <p:grpSpPr>
        <a:xfrm>
          <a:off x="0" y="0"/>
          <a:ext cx="0" cy="0"/>
          <a:chOff x="0" y="0"/>
          <a:chExt cx="0" cy="0"/>
        </a:xfrm>
      </p:grpSpPr>
      <p:sp>
        <p:nvSpPr>
          <p:cNvPr id="196" name="Google Shape;196;p16"/>
          <p:cNvSpPr/>
          <p:nvPr/>
        </p:nvSpPr>
        <p:spPr>
          <a:xfrm>
            <a:off x="0" y="1645920"/>
            <a:ext cx="9144000" cy="182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Questions?</a:t>
            </a:r>
            <a:endParaRPr b="0" i="0" sz="4800" u="none" cap="none" strike="noStrike">
              <a:solidFill>
                <a:schemeClr val="dk1"/>
              </a:solidFill>
              <a:latin typeface="Calibri"/>
              <a:ea typeface="Calibri"/>
              <a:cs typeface="Calibri"/>
              <a:sym typeface="Calibri"/>
            </a:endParaRPr>
          </a:p>
        </p:txBody>
      </p:sp>
      <p:sp>
        <p:nvSpPr>
          <p:cNvPr id="197" name="Google Shape;197;p16"/>
          <p:cNvSpPr/>
          <p:nvPr/>
        </p:nvSpPr>
        <p:spPr>
          <a:xfrm>
            <a:off x="457200" y="438912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Group 4  ·  </a:t>
            </a:r>
            <a:r>
              <a:rPr lang="en-US" sz="1200">
                <a:solidFill>
                  <a:srgbClr val="CADCFC"/>
                </a:solidFill>
                <a:latin typeface="Calibri"/>
                <a:ea typeface="Calibri"/>
                <a:cs typeface="Calibri"/>
                <a:sym typeface="Calibri"/>
              </a:rPr>
              <a:t>Parameter-Efficient Fine-Tuning for Czech-to-English Machine Translation</a:t>
            </a:r>
            <a:endParaRPr sz="1200">
              <a:solidFill>
                <a:srgbClr val="CADCFC"/>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